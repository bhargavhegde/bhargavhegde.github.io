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FE4A627-74D8-4CE6-92A3-75B636BD533C}">
  <a:tblStyle styleId="{8FE4A627-74D8-4CE6-92A3-75B636BD533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da8b1dcb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da8b1dcb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da8b1dcb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da8b1dcb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da8b1dcb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da8b1dcb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da8b1dcb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da8b1dcb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da8b1dcb6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da8b1dcb6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da8b1dcb6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da8b1dcb6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da8b1dcb6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da8b1dcb6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a8b1dcb6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da8b1dcb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a8b1dcb6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da8b1dcb6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da8b1dcb6_3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da8b1dcb6_3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da8b1dcb6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da8b1dcb6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da8b1dcb6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da8b1dcb6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da8b1dcb6_3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da8b1dcb6_3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e3ab0a402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e3ab0a402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da8b1dcb6_3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da8b1dcb6_3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38875" y="341325"/>
            <a:ext cx="3593700" cy="124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i="1" lang="en-GB">
                <a:solidFill>
                  <a:srgbClr val="FF0000"/>
                </a:solidFill>
                <a:latin typeface="Georgia"/>
                <a:ea typeface="Georgia"/>
                <a:cs typeface="Georgia"/>
                <a:sym typeface="Georgia"/>
              </a:rPr>
              <a:t>SEMILLA</a:t>
            </a:r>
            <a:endParaRPr i="1">
              <a:solidFill>
                <a:srgbClr val="FF0000"/>
              </a:solidFill>
              <a:latin typeface="Georgia"/>
              <a:ea typeface="Georgia"/>
              <a:cs typeface="Georgia"/>
              <a:sym typeface="Georgia"/>
            </a:endParaRPr>
          </a:p>
        </p:txBody>
      </p:sp>
      <p:sp>
        <p:nvSpPr>
          <p:cNvPr id="55" name="Google Shape;55;p13"/>
          <p:cNvSpPr txBox="1"/>
          <p:nvPr>
            <p:ph idx="1" type="subTitle"/>
          </p:nvPr>
        </p:nvSpPr>
        <p:spPr>
          <a:xfrm>
            <a:off x="470300" y="2051100"/>
            <a:ext cx="8533800" cy="286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u="sng">
                <a:solidFill>
                  <a:srgbClr val="FFFF00"/>
                </a:solidFill>
              </a:rPr>
              <a:t>Problem</a:t>
            </a:r>
            <a:r>
              <a:rPr lang="en-GB">
                <a:solidFill>
                  <a:srgbClr val="FFFF00"/>
                </a:solidFill>
              </a:rPr>
              <a:t>: Classification of plant seedlings</a:t>
            </a:r>
            <a:endParaRPr>
              <a:solidFill>
                <a:srgbClr val="FFFF00"/>
              </a:solidFill>
            </a:endParaRPr>
          </a:p>
          <a:p>
            <a:pPr indent="0" lvl="0" marL="0" rtl="0" algn="l">
              <a:spcBef>
                <a:spcPts val="0"/>
              </a:spcBef>
              <a:spcAft>
                <a:spcPts val="0"/>
              </a:spcAft>
              <a:buNone/>
            </a:pPr>
            <a:r>
              <a:t/>
            </a:r>
            <a:endParaRPr>
              <a:solidFill>
                <a:srgbClr val="FF0000"/>
              </a:solidFill>
            </a:endParaRPr>
          </a:p>
          <a:p>
            <a:pPr indent="0" lvl="0" marL="0" rtl="0" algn="l">
              <a:spcBef>
                <a:spcPts val="0"/>
              </a:spcBef>
              <a:spcAft>
                <a:spcPts val="0"/>
              </a:spcAft>
              <a:buNone/>
            </a:pPr>
            <a:r>
              <a:t/>
            </a:r>
            <a:endParaRPr>
              <a:solidFill>
                <a:srgbClr val="FF0000"/>
              </a:solidFill>
            </a:endParaRPr>
          </a:p>
          <a:p>
            <a:pPr indent="0" lvl="0" marL="0" rtl="0" algn="l">
              <a:spcBef>
                <a:spcPts val="0"/>
              </a:spcBef>
              <a:spcAft>
                <a:spcPts val="0"/>
              </a:spcAft>
              <a:buNone/>
            </a:pPr>
            <a:r>
              <a:rPr lang="en-GB" sz="2000">
                <a:solidFill>
                  <a:srgbClr val="FF9900"/>
                </a:solidFill>
              </a:rPr>
              <a:t>Karthik  . A * Bramesh Jain * Naveen Raj HN * Karthik K * Kiran SM * Adarsha Ballal * Darpan Acharya * Deekshith Kamath * Bhargav Hegde</a:t>
            </a:r>
            <a:endParaRPr sz="2000">
              <a:solidFill>
                <a:srgbClr val="FF9900"/>
              </a:solidFill>
            </a:endParaRPr>
          </a:p>
          <a:p>
            <a:pPr indent="0" lvl="0" marL="0" rtl="0" algn="l">
              <a:spcBef>
                <a:spcPts val="0"/>
              </a:spcBef>
              <a:spcAft>
                <a:spcPts val="0"/>
              </a:spcAft>
              <a:buNone/>
            </a:pPr>
            <a:r>
              <a:t/>
            </a:r>
            <a:endParaRPr sz="2000">
              <a:solidFill>
                <a:srgbClr val="FF0000"/>
              </a:solidFill>
            </a:endParaRPr>
          </a:p>
          <a:p>
            <a:pPr indent="0" lvl="0" marL="0" rtl="0" algn="l">
              <a:spcBef>
                <a:spcPts val="0"/>
              </a:spcBef>
              <a:spcAft>
                <a:spcPts val="0"/>
              </a:spcAft>
              <a:buNone/>
            </a:pPr>
            <a:r>
              <a:t/>
            </a:r>
            <a:endParaRPr>
              <a:solidFill>
                <a:srgbClr val="FF0000"/>
              </a:solidFill>
            </a:endParaRPr>
          </a:p>
          <a:p>
            <a:pPr indent="0" lvl="0" marL="0" rtl="0" algn="l">
              <a:spcBef>
                <a:spcPts val="0"/>
              </a:spcBef>
              <a:spcAft>
                <a:spcPts val="0"/>
              </a:spcAft>
              <a:buNone/>
            </a:pPr>
            <a:r>
              <a:t/>
            </a:r>
            <a:endParaRPr>
              <a:solidFill>
                <a:srgbClr val="FF0000"/>
              </a:solidFill>
            </a:endParaRPr>
          </a:p>
          <a:p>
            <a:pPr indent="0" lvl="0" marL="0" rtl="0" algn="l">
              <a:spcBef>
                <a:spcPts val="0"/>
              </a:spcBef>
              <a:spcAft>
                <a:spcPts val="0"/>
              </a:spcAft>
              <a:buNone/>
            </a:pPr>
            <a:r>
              <a:t/>
            </a:r>
            <a:endParaRPr>
              <a:solidFill>
                <a:srgbClr val="FF0000"/>
              </a:solidFill>
            </a:endParaRPr>
          </a:p>
        </p:txBody>
      </p:sp>
      <p:pic>
        <p:nvPicPr>
          <p:cNvPr id="56" name="Google Shape;56;p13"/>
          <p:cNvPicPr preferRelativeResize="0"/>
          <p:nvPr/>
        </p:nvPicPr>
        <p:blipFill rotWithShape="1">
          <a:blip r:embed="rId3">
            <a:alphaModFix/>
          </a:blip>
          <a:srcRect b="0" l="13457" r="0" t="0"/>
          <a:stretch/>
        </p:blipFill>
        <p:spPr>
          <a:xfrm>
            <a:off x="245325" y="136900"/>
            <a:ext cx="2626016" cy="1746301"/>
          </a:xfrm>
          <a:prstGeom prst="rect">
            <a:avLst/>
          </a:prstGeom>
          <a:noFill/>
          <a:ln>
            <a:noFill/>
          </a:ln>
        </p:spPr>
      </p:pic>
      <p:pic>
        <p:nvPicPr>
          <p:cNvPr id="57" name="Google Shape;57;p13"/>
          <p:cNvPicPr preferRelativeResize="0"/>
          <p:nvPr/>
        </p:nvPicPr>
        <p:blipFill>
          <a:blip r:embed="rId4">
            <a:alphaModFix/>
          </a:blip>
          <a:stretch>
            <a:fillRect/>
          </a:stretch>
        </p:blipFill>
        <p:spPr>
          <a:xfrm>
            <a:off x="6378075" y="232750"/>
            <a:ext cx="2626024" cy="16747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u="sng">
                <a:solidFill>
                  <a:srgbClr val="6D9EEB"/>
                </a:solidFill>
              </a:rPr>
              <a:t>Problem statement:</a:t>
            </a:r>
            <a:r>
              <a:rPr lang="en-GB">
                <a:solidFill>
                  <a:srgbClr val="6D9EEB"/>
                </a:solidFill>
              </a:rPr>
              <a:t>  Classification of plant seedlings</a:t>
            </a:r>
            <a:endParaRPr>
              <a:solidFill>
                <a:srgbClr val="6D9EEB"/>
              </a:solidFill>
            </a:endParaRPr>
          </a:p>
          <a:p>
            <a:pPr indent="0" lvl="0" marL="0" rtl="0" algn="l">
              <a:spcBef>
                <a:spcPts val="1600"/>
              </a:spcBef>
              <a:spcAft>
                <a:spcPts val="0"/>
              </a:spcAft>
              <a:buNone/>
            </a:pPr>
            <a:r>
              <a:rPr lang="en-GB">
                <a:solidFill>
                  <a:srgbClr val="6D9EEB"/>
                </a:solidFill>
              </a:rPr>
              <a:t>					-  </a:t>
            </a:r>
            <a:r>
              <a:rPr lang="en-GB">
                <a:solidFill>
                  <a:srgbClr val="6D9EEB"/>
                </a:solidFill>
              </a:rPr>
              <a:t>Tools and Framework to be used.</a:t>
            </a:r>
            <a:endParaRPr>
              <a:solidFill>
                <a:srgbClr val="6D9EEB"/>
              </a:solidFill>
            </a:endParaRPr>
          </a:p>
          <a:p>
            <a:pPr indent="0" lvl="0" marL="0" rtl="0" algn="l">
              <a:spcBef>
                <a:spcPts val="1600"/>
              </a:spcBef>
              <a:spcAft>
                <a:spcPts val="0"/>
              </a:spcAft>
              <a:buNone/>
            </a:pPr>
            <a:r>
              <a:rPr lang="en-GB">
                <a:solidFill>
                  <a:srgbClr val="6D9EEB"/>
                </a:solidFill>
              </a:rPr>
              <a:t>					- Numpy, pandas, Keras Tensorflow.</a:t>
            </a:r>
            <a:endParaRPr>
              <a:solidFill>
                <a:srgbClr val="6D9EEB"/>
              </a:solidFill>
            </a:endParaRPr>
          </a:p>
          <a:p>
            <a:pPr indent="0" lvl="0" marL="0" rtl="0" algn="l">
              <a:spcBef>
                <a:spcPts val="1600"/>
              </a:spcBef>
              <a:spcAft>
                <a:spcPts val="0"/>
              </a:spcAft>
              <a:buNone/>
            </a:pPr>
            <a:r>
              <a:t/>
            </a:r>
            <a:endParaRPr>
              <a:solidFill>
                <a:srgbClr val="6D9EEB"/>
              </a:solidFill>
            </a:endParaRPr>
          </a:p>
          <a:p>
            <a:pPr indent="0" lvl="0" marL="0" rtl="0" algn="l">
              <a:spcBef>
                <a:spcPts val="1600"/>
              </a:spcBef>
              <a:spcAft>
                <a:spcPts val="1600"/>
              </a:spcAft>
              <a:buNone/>
            </a:pPr>
            <a:r>
              <a:t/>
            </a:r>
            <a:endParaRPr>
              <a:solidFill>
                <a:srgbClr val="6D9EEB"/>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76300" y="115450"/>
            <a:ext cx="4714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accent5"/>
                </a:solidFill>
              </a:rPr>
              <a:t>Team Structure and Roles-</a:t>
            </a:r>
            <a:endParaRPr>
              <a:solidFill>
                <a:schemeClr val="accent5"/>
              </a:solidFill>
            </a:endParaRPr>
          </a:p>
        </p:txBody>
      </p:sp>
      <p:sp>
        <p:nvSpPr>
          <p:cNvPr id="69" name="Google Shape;69;p15"/>
          <p:cNvSpPr txBox="1"/>
          <p:nvPr/>
        </p:nvSpPr>
        <p:spPr>
          <a:xfrm>
            <a:off x="553175" y="1136400"/>
            <a:ext cx="2795400" cy="4440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00FF00"/>
                </a:solidFill>
              </a:rPr>
              <a:t>Research Member</a:t>
            </a:r>
            <a:endParaRPr>
              <a:solidFill>
                <a:srgbClr val="00FF00"/>
              </a:solidFill>
            </a:endParaRPr>
          </a:p>
          <a:p>
            <a:pPr indent="0" lvl="0" marL="0" rtl="0" algn="l">
              <a:spcBef>
                <a:spcPts val="0"/>
              </a:spcBef>
              <a:spcAft>
                <a:spcPts val="0"/>
              </a:spcAft>
              <a:buNone/>
            </a:pPr>
            <a:r>
              <a:t/>
            </a:r>
            <a:endParaRPr>
              <a:solidFill>
                <a:srgbClr val="00FF00"/>
              </a:solidFill>
            </a:endParaRPr>
          </a:p>
        </p:txBody>
      </p:sp>
      <p:sp>
        <p:nvSpPr>
          <p:cNvPr id="70" name="Google Shape;70;p15"/>
          <p:cNvSpPr txBox="1"/>
          <p:nvPr/>
        </p:nvSpPr>
        <p:spPr>
          <a:xfrm>
            <a:off x="553175" y="1635850"/>
            <a:ext cx="2795400" cy="4440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00FF00"/>
                </a:solidFill>
              </a:rPr>
              <a:t>Application Architect</a:t>
            </a:r>
            <a:endParaRPr>
              <a:solidFill>
                <a:srgbClr val="00FF00"/>
              </a:solidFill>
            </a:endParaRPr>
          </a:p>
        </p:txBody>
      </p:sp>
      <p:sp>
        <p:nvSpPr>
          <p:cNvPr id="71" name="Google Shape;71;p15"/>
          <p:cNvSpPr txBox="1"/>
          <p:nvPr/>
        </p:nvSpPr>
        <p:spPr>
          <a:xfrm>
            <a:off x="553175" y="2135288"/>
            <a:ext cx="2795400" cy="4440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00FF00"/>
                </a:solidFill>
              </a:rPr>
              <a:t>Solution Specialist</a:t>
            </a:r>
            <a:endParaRPr>
              <a:solidFill>
                <a:srgbClr val="00FF00"/>
              </a:solidFill>
            </a:endParaRPr>
          </a:p>
        </p:txBody>
      </p:sp>
      <p:sp>
        <p:nvSpPr>
          <p:cNvPr id="72" name="Google Shape;72;p15"/>
          <p:cNvSpPr txBox="1"/>
          <p:nvPr/>
        </p:nvSpPr>
        <p:spPr>
          <a:xfrm>
            <a:off x="553175" y="2659988"/>
            <a:ext cx="2795400" cy="3882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00FF00"/>
                </a:solidFill>
              </a:rPr>
              <a:t>NLP Engineer</a:t>
            </a:r>
            <a:endParaRPr>
              <a:solidFill>
                <a:srgbClr val="00FF00"/>
              </a:solidFill>
            </a:endParaRPr>
          </a:p>
        </p:txBody>
      </p:sp>
      <p:sp>
        <p:nvSpPr>
          <p:cNvPr id="73" name="Google Shape;73;p15"/>
          <p:cNvSpPr txBox="1"/>
          <p:nvPr/>
        </p:nvSpPr>
        <p:spPr>
          <a:xfrm>
            <a:off x="538475" y="3128900"/>
            <a:ext cx="2824800" cy="4440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00FF00"/>
                </a:solidFill>
              </a:rPr>
              <a:t>ML\AI Manager</a:t>
            </a:r>
            <a:endParaRPr>
              <a:solidFill>
                <a:srgbClr val="00FF00"/>
              </a:solidFill>
            </a:endParaRPr>
          </a:p>
        </p:txBody>
      </p:sp>
      <p:sp>
        <p:nvSpPr>
          <p:cNvPr id="74" name="Google Shape;74;p15"/>
          <p:cNvSpPr txBox="1"/>
          <p:nvPr/>
        </p:nvSpPr>
        <p:spPr>
          <a:xfrm>
            <a:off x="553175" y="3678850"/>
            <a:ext cx="2795400" cy="5727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00FF00"/>
                </a:solidFill>
              </a:rPr>
              <a:t>Business Development Manager</a:t>
            </a:r>
            <a:endParaRPr>
              <a:solidFill>
                <a:srgbClr val="00FF00"/>
              </a:solidFill>
            </a:endParaRPr>
          </a:p>
        </p:txBody>
      </p:sp>
      <p:sp>
        <p:nvSpPr>
          <p:cNvPr id="75" name="Google Shape;75;p15"/>
          <p:cNvSpPr txBox="1"/>
          <p:nvPr/>
        </p:nvSpPr>
        <p:spPr>
          <a:xfrm>
            <a:off x="553175" y="4344675"/>
            <a:ext cx="2795400" cy="4440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00FF00"/>
                </a:solidFill>
              </a:rPr>
              <a:t>Sales Specialist</a:t>
            </a:r>
            <a:endParaRPr>
              <a:solidFill>
                <a:srgbClr val="00FF00"/>
              </a:solidFill>
            </a:endParaRPr>
          </a:p>
        </p:txBody>
      </p:sp>
      <p:sp>
        <p:nvSpPr>
          <p:cNvPr id="76" name="Google Shape;76;p15"/>
          <p:cNvSpPr txBox="1"/>
          <p:nvPr/>
        </p:nvSpPr>
        <p:spPr>
          <a:xfrm>
            <a:off x="5025800" y="3574575"/>
            <a:ext cx="1482900" cy="3882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FF00"/>
                </a:solidFill>
              </a:rPr>
              <a:t>Bhargav hegde</a:t>
            </a:r>
            <a:endParaRPr>
              <a:solidFill>
                <a:srgbClr val="FFFF00"/>
              </a:solidFill>
            </a:endParaRPr>
          </a:p>
        </p:txBody>
      </p:sp>
      <p:sp>
        <p:nvSpPr>
          <p:cNvPr id="77" name="Google Shape;77;p15"/>
          <p:cNvSpPr txBox="1"/>
          <p:nvPr/>
        </p:nvSpPr>
        <p:spPr>
          <a:xfrm>
            <a:off x="6320375" y="1824588"/>
            <a:ext cx="1482900" cy="4440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FF00"/>
                </a:solidFill>
              </a:rPr>
              <a:t>Karthik . K</a:t>
            </a:r>
            <a:endParaRPr>
              <a:solidFill>
                <a:srgbClr val="FFFF00"/>
              </a:solidFill>
            </a:endParaRPr>
          </a:p>
        </p:txBody>
      </p:sp>
      <p:sp>
        <p:nvSpPr>
          <p:cNvPr id="78" name="Google Shape;78;p15"/>
          <p:cNvSpPr txBox="1"/>
          <p:nvPr/>
        </p:nvSpPr>
        <p:spPr>
          <a:xfrm>
            <a:off x="5025800" y="2324700"/>
            <a:ext cx="1482900" cy="4440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FF00"/>
                </a:solidFill>
              </a:rPr>
              <a:t>Brahmesh Jain</a:t>
            </a:r>
            <a:endParaRPr>
              <a:solidFill>
                <a:srgbClr val="FFFF00"/>
              </a:solidFill>
            </a:endParaRPr>
          </a:p>
        </p:txBody>
      </p:sp>
      <p:sp>
        <p:nvSpPr>
          <p:cNvPr id="79" name="Google Shape;79;p15"/>
          <p:cNvSpPr txBox="1"/>
          <p:nvPr/>
        </p:nvSpPr>
        <p:spPr>
          <a:xfrm>
            <a:off x="5025800" y="1379363"/>
            <a:ext cx="1482900" cy="3882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FF00"/>
                </a:solidFill>
              </a:rPr>
              <a:t>Naveen Raj. HN</a:t>
            </a:r>
            <a:endParaRPr>
              <a:solidFill>
                <a:srgbClr val="FFFF00"/>
              </a:solidFill>
            </a:endParaRPr>
          </a:p>
        </p:txBody>
      </p:sp>
      <p:sp>
        <p:nvSpPr>
          <p:cNvPr id="80" name="Google Shape;80;p15"/>
          <p:cNvSpPr txBox="1"/>
          <p:nvPr/>
        </p:nvSpPr>
        <p:spPr>
          <a:xfrm>
            <a:off x="5025800" y="253075"/>
            <a:ext cx="1482900" cy="5061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FF00"/>
                </a:solidFill>
              </a:rPr>
              <a:t>Karthik A</a:t>
            </a:r>
            <a:endParaRPr>
              <a:solidFill>
                <a:srgbClr val="FFFF00"/>
              </a:solidFill>
            </a:endParaRPr>
          </a:p>
        </p:txBody>
      </p:sp>
      <p:sp>
        <p:nvSpPr>
          <p:cNvPr id="81" name="Google Shape;81;p15"/>
          <p:cNvSpPr txBox="1"/>
          <p:nvPr/>
        </p:nvSpPr>
        <p:spPr>
          <a:xfrm>
            <a:off x="6320375" y="816213"/>
            <a:ext cx="1482900" cy="506100"/>
          </a:xfrm>
          <a:prstGeom prst="rect">
            <a:avLst/>
          </a:prstGeom>
          <a:solidFill>
            <a:srgbClr val="000000"/>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FF00"/>
                </a:solidFill>
              </a:rPr>
              <a:t>Kiran SM</a:t>
            </a:r>
            <a:endParaRPr>
              <a:solidFill>
                <a:srgbClr val="FFFF00"/>
              </a:solidFill>
            </a:endParaRPr>
          </a:p>
        </p:txBody>
      </p:sp>
      <p:sp>
        <p:nvSpPr>
          <p:cNvPr id="82" name="Google Shape;82;p15"/>
          <p:cNvSpPr txBox="1"/>
          <p:nvPr/>
        </p:nvSpPr>
        <p:spPr>
          <a:xfrm>
            <a:off x="5025800" y="4566675"/>
            <a:ext cx="1482900" cy="4440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FF00"/>
                </a:solidFill>
              </a:rPr>
              <a:t>Adarsha Ballal</a:t>
            </a:r>
            <a:endParaRPr>
              <a:solidFill>
                <a:srgbClr val="FFFF00"/>
              </a:solidFill>
            </a:endParaRPr>
          </a:p>
        </p:txBody>
      </p:sp>
      <p:sp>
        <p:nvSpPr>
          <p:cNvPr id="83" name="Google Shape;83;p15"/>
          <p:cNvSpPr txBox="1"/>
          <p:nvPr/>
        </p:nvSpPr>
        <p:spPr>
          <a:xfrm>
            <a:off x="6277475" y="4010625"/>
            <a:ext cx="1568700" cy="4440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FF00"/>
                </a:solidFill>
              </a:rPr>
              <a:t>Darpan Acharya </a:t>
            </a:r>
            <a:endParaRPr>
              <a:solidFill>
                <a:srgbClr val="FFFF00"/>
              </a:solidFill>
            </a:endParaRPr>
          </a:p>
        </p:txBody>
      </p:sp>
      <p:sp>
        <p:nvSpPr>
          <p:cNvPr id="84" name="Google Shape;84;p15"/>
          <p:cNvSpPr txBox="1"/>
          <p:nvPr/>
        </p:nvSpPr>
        <p:spPr>
          <a:xfrm>
            <a:off x="6320375" y="2897938"/>
            <a:ext cx="1482900" cy="5727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FF00"/>
                </a:solidFill>
              </a:rPr>
              <a:t>Deekshith Kamath</a:t>
            </a:r>
            <a:endParaRPr>
              <a:solidFill>
                <a:srgbClr val="FFFF00"/>
              </a:solidFill>
            </a:endParaRPr>
          </a:p>
        </p:txBody>
      </p:sp>
      <p:cxnSp>
        <p:nvCxnSpPr>
          <p:cNvPr id="85" name="Google Shape;85;p15"/>
          <p:cNvCxnSpPr>
            <a:stCxn id="75" idx="3"/>
            <a:endCxn id="76" idx="1"/>
          </p:cNvCxnSpPr>
          <p:nvPr/>
        </p:nvCxnSpPr>
        <p:spPr>
          <a:xfrm flipH="1" rot="10800000">
            <a:off x="3348575" y="3768675"/>
            <a:ext cx="1677300" cy="798000"/>
          </a:xfrm>
          <a:prstGeom prst="straightConnector1">
            <a:avLst/>
          </a:prstGeom>
          <a:noFill/>
          <a:ln cap="flat" cmpd="sng" w="19050">
            <a:solidFill>
              <a:srgbClr val="FF00FF"/>
            </a:solidFill>
            <a:prstDash val="solid"/>
            <a:round/>
            <a:headEnd len="med" w="med" type="none"/>
            <a:tailEnd len="med" w="med" type="triangle"/>
          </a:ln>
        </p:spPr>
      </p:cxnSp>
      <p:cxnSp>
        <p:nvCxnSpPr>
          <p:cNvPr id="86" name="Google Shape;86;p15"/>
          <p:cNvCxnSpPr>
            <a:stCxn id="73" idx="3"/>
            <a:endCxn id="76" idx="1"/>
          </p:cNvCxnSpPr>
          <p:nvPr/>
        </p:nvCxnSpPr>
        <p:spPr>
          <a:xfrm>
            <a:off x="3363275" y="3350900"/>
            <a:ext cx="1662600" cy="417900"/>
          </a:xfrm>
          <a:prstGeom prst="straightConnector1">
            <a:avLst/>
          </a:prstGeom>
          <a:noFill/>
          <a:ln cap="flat" cmpd="sng" w="19050">
            <a:solidFill>
              <a:srgbClr val="FF9900"/>
            </a:solidFill>
            <a:prstDash val="solid"/>
            <a:round/>
            <a:headEnd len="med" w="med" type="none"/>
            <a:tailEnd len="med" w="med" type="triangle"/>
          </a:ln>
        </p:spPr>
      </p:cxnSp>
      <p:cxnSp>
        <p:nvCxnSpPr>
          <p:cNvPr id="87" name="Google Shape;87;p15"/>
          <p:cNvCxnSpPr>
            <a:stCxn id="69" idx="3"/>
            <a:endCxn id="80" idx="1"/>
          </p:cNvCxnSpPr>
          <p:nvPr/>
        </p:nvCxnSpPr>
        <p:spPr>
          <a:xfrm flipH="1" rot="10800000">
            <a:off x="3348575" y="506100"/>
            <a:ext cx="1677300" cy="852300"/>
          </a:xfrm>
          <a:prstGeom prst="straightConnector1">
            <a:avLst/>
          </a:prstGeom>
          <a:noFill/>
          <a:ln cap="flat" cmpd="sng" w="19050">
            <a:solidFill>
              <a:srgbClr val="FFFFFF"/>
            </a:solidFill>
            <a:prstDash val="solid"/>
            <a:round/>
            <a:headEnd len="med" w="med" type="none"/>
            <a:tailEnd len="med" w="med" type="triangle"/>
          </a:ln>
        </p:spPr>
      </p:cxnSp>
      <p:cxnSp>
        <p:nvCxnSpPr>
          <p:cNvPr id="88" name="Google Shape;88;p15"/>
          <p:cNvCxnSpPr>
            <a:stCxn id="73" idx="3"/>
            <a:endCxn id="78" idx="1"/>
          </p:cNvCxnSpPr>
          <p:nvPr/>
        </p:nvCxnSpPr>
        <p:spPr>
          <a:xfrm flipH="1" rot="10800000">
            <a:off x="3363275" y="2546600"/>
            <a:ext cx="1662600" cy="804300"/>
          </a:xfrm>
          <a:prstGeom prst="straightConnector1">
            <a:avLst/>
          </a:prstGeom>
          <a:noFill/>
          <a:ln cap="flat" cmpd="sng" w="19050">
            <a:solidFill>
              <a:srgbClr val="FF9900"/>
            </a:solidFill>
            <a:prstDash val="solid"/>
            <a:round/>
            <a:headEnd len="med" w="med" type="none"/>
            <a:tailEnd len="med" w="med" type="triangle"/>
          </a:ln>
        </p:spPr>
      </p:cxnSp>
      <p:cxnSp>
        <p:nvCxnSpPr>
          <p:cNvPr id="89" name="Google Shape;89;p15"/>
          <p:cNvCxnSpPr>
            <a:stCxn id="70" idx="3"/>
            <a:endCxn id="79" idx="1"/>
          </p:cNvCxnSpPr>
          <p:nvPr/>
        </p:nvCxnSpPr>
        <p:spPr>
          <a:xfrm flipH="1" rot="10800000">
            <a:off x="3348575" y="1573450"/>
            <a:ext cx="1677300" cy="284400"/>
          </a:xfrm>
          <a:prstGeom prst="straightConnector1">
            <a:avLst/>
          </a:prstGeom>
          <a:noFill/>
          <a:ln cap="flat" cmpd="sng" w="19050">
            <a:solidFill>
              <a:srgbClr val="00FFFF"/>
            </a:solidFill>
            <a:prstDash val="solid"/>
            <a:round/>
            <a:headEnd len="med" w="med" type="none"/>
            <a:tailEnd len="med" w="med" type="triangle"/>
          </a:ln>
        </p:spPr>
      </p:cxnSp>
      <p:cxnSp>
        <p:nvCxnSpPr>
          <p:cNvPr id="90" name="Google Shape;90;p15"/>
          <p:cNvCxnSpPr>
            <a:stCxn id="77" idx="1"/>
          </p:cNvCxnSpPr>
          <p:nvPr/>
        </p:nvCxnSpPr>
        <p:spPr>
          <a:xfrm flipH="1">
            <a:off x="5025875" y="2046588"/>
            <a:ext cx="1294500" cy="13200"/>
          </a:xfrm>
          <a:prstGeom prst="straightConnector1">
            <a:avLst/>
          </a:prstGeom>
          <a:noFill/>
          <a:ln cap="flat" cmpd="sng" w="19050">
            <a:solidFill>
              <a:srgbClr val="FF0000"/>
            </a:solidFill>
            <a:prstDash val="solid"/>
            <a:round/>
            <a:headEnd len="med" w="med" type="diamond"/>
            <a:tailEnd len="med" w="med" type="diamond"/>
          </a:ln>
        </p:spPr>
      </p:cxnSp>
      <p:cxnSp>
        <p:nvCxnSpPr>
          <p:cNvPr id="91" name="Google Shape;91;p15"/>
          <p:cNvCxnSpPr>
            <a:stCxn id="81" idx="1"/>
          </p:cNvCxnSpPr>
          <p:nvPr/>
        </p:nvCxnSpPr>
        <p:spPr>
          <a:xfrm flipH="1">
            <a:off x="5013875" y="1069263"/>
            <a:ext cx="1306500" cy="13500"/>
          </a:xfrm>
          <a:prstGeom prst="straightConnector1">
            <a:avLst/>
          </a:prstGeom>
          <a:noFill/>
          <a:ln cap="flat" cmpd="sng" w="19050">
            <a:solidFill>
              <a:srgbClr val="FF0000"/>
            </a:solidFill>
            <a:prstDash val="solid"/>
            <a:round/>
            <a:headEnd len="med" w="med" type="diamond"/>
            <a:tailEnd len="med" w="med" type="diamond"/>
          </a:ln>
        </p:spPr>
      </p:cxnSp>
      <p:cxnSp>
        <p:nvCxnSpPr>
          <p:cNvPr id="92" name="Google Shape;92;p15"/>
          <p:cNvCxnSpPr>
            <a:stCxn id="84" idx="1"/>
          </p:cNvCxnSpPr>
          <p:nvPr/>
        </p:nvCxnSpPr>
        <p:spPr>
          <a:xfrm flipH="1">
            <a:off x="5049275" y="3184288"/>
            <a:ext cx="1271100" cy="17100"/>
          </a:xfrm>
          <a:prstGeom prst="straightConnector1">
            <a:avLst/>
          </a:prstGeom>
          <a:noFill/>
          <a:ln cap="flat" cmpd="sng" w="19050">
            <a:solidFill>
              <a:srgbClr val="FF0000"/>
            </a:solidFill>
            <a:prstDash val="solid"/>
            <a:round/>
            <a:headEnd len="med" w="med" type="diamond"/>
            <a:tailEnd len="med" w="med" type="diamond"/>
          </a:ln>
        </p:spPr>
      </p:cxnSp>
      <p:cxnSp>
        <p:nvCxnSpPr>
          <p:cNvPr id="93" name="Google Shape;93;p15"/>
          <p:cNvCxnSpPr>
            <a:stCxn id="83" idx="1"/>
          </p:cNvCxnSpPr>
          <p:nvPr/>
        </p:nvCxnSpPr>
        <p:spPr>
          <a:xfrm rot="10800000">
            <a:off x="4982975" y="4228125"/>
            <a:ext cx="1294500" cy="4500"/>
          </a:xfrm>
          <a:prstGeom prst="straightConnector1">
            <a:avLst/>
          </a:prstGeom>
          <a:noFill/>
          <a:ln cap="flat" cmpd="sng" w="19050">
            <a:solidFill>
              <a:srgbClr val="FF0000"/>
            </a:solidFill>
            <a:prstDash val="solid"/>
            <a:round/>
            <a:headEnd len="med" w="med" type="diamond"/>
            <a:tailEnd len="med" w="med" type="diamond"/>
          </a:ln>
        </p:spPr>
      </p:cxnSp>
      <p:cxnSp>
        <p:nvCxnSpPr>
          <p:cNvPr id="94" name="Google Shape;94;p15"/>
          <p:cNvCxnSpPr>
            <a:stCxn id="74" idx="3"/>
          </p:cNvCxnSpPr>
          <p:nvPr/>
        </p:nvCxnSpPr>
        <p:spPr>
          <a:xfrm flipH="1" rot="10800000">
            <a:off x="3348575" y="2071600"/>
            <a:ext cx="1689000" cy="1893600"/>
          </a:xfrm>
          <a:prstGeom prst="straightConnector1">
            <a:avLst/>
          </a:prstGeom>
          <a:noFill/>
          <a:ln cap="flat" cmpd="sng" w="19050">
            <a:solidFill>
              <a:srgbClr val="0000FF"/>
            </a:solidFill>
            <a:prstDash val="solid"/>
            <a:round/>
            <a:headEnd len="med" w="med" type="none"/>
            <a:tailEnd len="med" w="med" type="triangle"/>
          </a:ln>
        </p:spPr>
      </p:cxnSp>
      <p:cxnSp>
        <p:nvCxnSpPr>
          <p:cNvPr id="95" name="Google Shape;95;p15"/>
          <p:cNvCxnSpPr>
            <a:stCxn id="71" idx="3"/>
          </p:cNvCxnSpPr>
          <p:nvPr/>
        </p:nvCxnSpPr>
        <p:spPr>
          <a:xfrm flipH="1" rot="10800000">
            <a:off x="3348575" y="2059688"/>
            <a:ext cx="1724400" cy="297600"/>
          </a:xfrm>
          <a:prstGeom prst="straightConnector1">
            <a:avLst/>
          </a:prstGeom>
          <a:noFill/>
          <a:ln cap="flat" cmpd="sng" w="19050">
            <a:solidFill>
              <a:srgbClr val="FFFF00"/>
            </a:solidFill>
            <a:prstDash val="solid"/>
            <a:round/>
            <a:headEnd len="med" w="med" type="none"/>
            <a:tailEnd len="med" w="med" type="triangle"/>
          </a:ln>
        </p:spPr>
      </p:cxnSp>
      <p:cxnSp>
        <p:nvCxnSpPr>
          <p:cNvPr id="96" name="Google Shape;96;p15"/>
          <p:cNvCxnSpPr>
            <a:stCxn id="72" idx="3"/>
          </p:cNvCxnSpPr>
          <p:nvPr/>
        </p:nvCxnSpPr>
        <p:spPr>
          <a:xfrm flipH="1" rot="10800000">
            <a:off x="3348575" y="1094588"/>
            <a:ext cx="1712400" cy="1759500"/>
          </a:xfrm>
          <a:prstGeom prst="straightConnector1">
            <a:avLst/>
          </a:prstGeom>
          <a:noFill/>
          <a:ln cap="flat" cmpd="sng" w="19050">
            <a:solidFill>
              <a:srgbClr val="00FF00"/>
            </a:solidFill>
            <a:prstDash val="solid"/>
            <a:round/>
            <a:headEnd len="med" w="med" type="none"/>
            <a:tailEnd len="med" w="med" type="triangle"/>
          </a:ln>
        </p:spPr>
      </p:cxnSp>
      <p:cxnSp>
        <p:nvCxnSpPr>
          <p:cNvPr id="97" name="Google Shape;97;p15"/>
          <p:cNvCxnSpPr>
            <a:stCxn id="70" idx="3"/>
          </p:cNvCxnSpPr>
          <p:nvPr/>
        </p:nvCxnSpPr>
        <p:spPr>
          <a:xfrm flipH="1" rot="10800000">
            <a:off x="3348575" y="1082950"/>
            <a:ext cx="1677300" cy="774900"/>
          </a:xfrm>
          <a:prstGeom prst="straightConnector1">
            <a:avLst/>
          </a:prstGeom>
          <a:noFill/>
          <a:ln cap="flat" cmpd="sng" w="19050">
            <a:solidFill>
              <a:srgbClr val="00FFFF"/>
            </a:solidFill>
            <a:prstDash val="solid"/>
            <a:round/>
            <a:headEnd len="med" w="med" type="none"/>
            <a:tailEnd len="med" w="med" type="triangle"/>
          </a:ln>
        </p:spPr>
      </p:cxnSp>
      <p:cxnSp>
        <p:nvCxnSpPr>
          <p:cNvPr id="98" name="Google Shape;98;p15"/>
          <p:cNvCxnSpPr>
            <a:stCxn id="73" idx="3"/>
            <a:endCxn id="82" idx="1"/>
          </p:cNvCxnSpPr>
          <p:nvPr/>
        </p:nvCxnSpPr>
        <p:spPr>
          <a:xfrm>
            <a:off x="3363275" y="3350900"/>
            <a:ext cx="1662600" cy="1437900"/>
          </a:xfrm>
          <a:prstGeom prst="straightConnector1">
            <a:avLst/>
          </a:prstGeom>
          <a:noFill/>
          <a:ln cap="flat" cmpd="sng" w="19050">
            <a:solidFill>
              <a:srgbClr val="FF9900"/>
            </a:solidFill>
            <a:prstDash val="solid"/>
            <a:round/>
            <a:headEnd len="med" w="med" type="none"/>
            <a:tailEnd len="med" w="med" type="triangle"/>
          </a:ln>
        </p:spPr>
      </p:cxnSp>
      <p:cxnSp>
        <p:nvCxnSpPr>
          <p:cNvPr id="99" name="Google Shape;99;p15"/>
          <p:cNvCxnSpPr>
            <a:stCxn id="69" idx="3"/>
          </p:cNvCxnSpPr>
          <p:nvPr/>
        </p:nvCxnSpPr>
        <p:spPr>
          <a:xfrm>
            <a:off x="3348575" y="1358400"/>
            <a:ext cx="1724400" cy="2925900"/>
          </a:xfrm>
          <a:prstGeom prst="straightConnector1">
            <a:avLst/>
          </a:prstGeom>
          <a:noFill/>
          <a:ln cap="flat" cmpd="sng" w="19050">
            <a:solidFill>
              <a:srgbClr val="FFFFFF"/>
            </a:solidFill>
            <a:prstDash val="solid"/>
            <a:round/>
            <a:headEnd len="med" w="med" type="none"/>
            <a:tailEnd len="med" w="med" type="triangle"/>
          </a:ln>
        </p:spPr>
      </p:cxnSp>
      <p:cxnSp>
        <p:nvCxnSpPr>
          <p:cNvPr id="100" name="Google Shape;100;p15"/>
          <p:cNvCxnSpPr>
            <a:stCxn id="71" idx="3"/>
          </p:cNvCxnSpPr>
          <p:nvPr/>
        </p:nvCxnSpPr>
        <p:spPr>
          <a:xfrm>
            <a:off x="3348575" y="2357288"/>
            <a:ext cx="1736100" cy="844200"/>
          </a:xfrm>
          <a:prstGeom prst="straightConnector1">
            <a:avLst/>
          </a:prstGeom>
          <a:noFill/>
          <a:ln cap="flat" cmpd="sng" w="19050">
            <a:solidFill>
              <a:srgbClr val="FFFF00"/>
            </a:solidFill>
            <a:prstDash val="solid"/>
            <a:round/>
            <a:headEnd len="med" w="med"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311700" y="503875"/>
            <a:ext cx="8520600" cy="170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400" u="sng">
                <a:solidFill>
                  <a:srgbClr val="FF9900"/>
                </a:solidFill>
              </a:rPr>
              <a:t>Problems on programmers side:</a:t>
            </a:r>
            <a:endParaRPr sz="2400" u="sng">
              <a:solidFill>
                <a:srgbClr val="FF9900"/>
              </a:solidFill>
            </a:endParaRPr>
          </a:p>
          <a:p>
            <a:pPr indent="0" lvl="0" marL="0" rtl="0" algn="l">
              <a:spcBef>
                <a:spcPts val="0"/>
              </a:spcBef>
              <a:spcAft>
                <a:spcPts val="0"/>
              </a:spcAft>
              <a:buNone/>
            </a:pPr>
            <a:r>
              <a:rPr lang="en-GB" sz="1800">
                <a:solidFill>
                  <a:srgbClr val="0000FF"/>
                </a:solidFill>
              </a:rPr>
              <a:t>*</a:t>
            </a:r>
            <a:r>
              <a:rPr lang="en-GB" sz="1800">
                <a:solidFill>
                  <a:srgbClr val="0000FF"/>
                </a:solidFill>
              </a:rPr>
              <a:t>poor image quality</a:t>
            </a:r>
            <a:endParaRPr sz="1800">
              <a:solidFill>
                <a:srgbClr val="0000FF"/>
              </a:solidFill>
            </a:endParaRPr>
          </a:p>
          <a:p>
            <a:pPr indent="0" lvl="0" marL="0" rtl="0" algn="l">
              <a:spcBef>
                <a:spcPts val="0"/>
              </a:spcBef>
              <a:spcAft>
                <a:spcPts val="0"/>
              </a:spcAft>
              <a:buNone/>
            </a:pPr>
            <a:r>
              <a:rPr lang="en-GB" sz="1800">
                <a:solidFill>
                  <a:srgbClr val="0000FF"/>
                </a:solidFill>
              </a:rPr>
              <a:t>*unreliable data sets</a:t>
            </a:r>
            <a:endParaRPr sz="1800">
              <a:solidFill>
                <a:srgbClr val="0000FF"/>
              </a:solidFill>
            </a:endParaRPr>
          </a:p>
          <a:p>
            <a:pPr indent="0" lvl="0" marL="0" rtl="0" algn="l">
              <a:spcBef>
                <a:spcPts val="0"/>
              </a:spcBef>
              <a:spcAft>
                <a:spcPts val="0"/>
              </a:spcAft>
              <a:buNone/>
            </a:pPr>
            <a:r>
              <a:rPr lang="en-GB" sz="1800">
                <a:solidFill>
                  <a:srgbClr val="0000FF"/>
                </a:solidFill>
              </a:rPr>
              <a:t>*high variety of samplings</a:t>
            </a:r>
            <a:endParaRPr sz="1800">
              <a:solidFill>
                <a:srgbClr val="0000FF"/>
              </a:solidFill>
            </a:endParaRPr>
          </a:p>
          <a:p>
            <a:pPr indent="0" lvl="0" marL="0" rtl="0" algn="l">
              <a:spcBef>
                <a:spcPts val="0"/>
              </a:spcBef>
              <a:spcAft>
                <a:spcPts val="0"/>
              </a:spcAft>
              <a:buNone/>
            </a:pPr>
            <a:r>
              <a:rPr lang="en-GB" sz="1800">
                <a:solidFill>
                  <a:srgbClr val="0000FF"/>
                </a:solidFill>
              </a:rPr>
              <a:t>*time consuming</a:t>
            </a:r>
            <a:endParaRPr sz="1800">
              <a:solidFill>
                <a:srgbClr val="0000FF"/>
              </a:solidFill>
            </a:endParaRPr>
          </a:p>
        </p:txBody>
      </p:sp>
      <p:sp>
        <p:nvSpPr>
          <p:cNvPr id="106" name="Google Shape;106;p16"/>
          <p:cNvSpPr txBox="1"/>
          <p:nvPr>
            <p:ph idx="1" type="body"/>
          </p:nvPr>
        </p:nvSpPr>
        <p:spPr>
          <a:xfrm>
            <a:off x="311700" y="2212675"/>
            <a:ext cx="8520600" cy="194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400" u="sng">
                <a:solidFill>
                  <a:srgbClr val="FF9900"/>
                </a:solidFill>
              </a:rPr>
              <a:t>Problem on client side:</a:t>
            </a:r>
            <a:endParaRPr sz="2400" u="sng">
              <a:solidFill>
                <a:srgbClr val="FF9900"/>
              </a:solidFill>
            </a:endParaRPr>
          </a:p>
          <a:p>
            <a:pPr indent="0" lvl="0" marL="0" rtl="0" algn="l">
              <a:spcBef>
                <a:spcPts val="1600"/>
              </a:spcBef>
              <a:spcAft>
                <a:spcPts val="1600"/>
              </a:spcAft>
              <a:buNone/>
            </a:pPr>
            <a:r>
              <a:rPr lang="en-GB">
                <a:solidFill>
                  <a:srgbClr val="0000FF"/>
                </a:solidFill>
              </a:rPr>
              <a:t>*lack of </a:t>
            </a:r>
            <a:r>
              <a:rPr lang="en-GB">
                <a:solidFill>
                  <a:srgbClr val="0000FF"/>
                </a:solidFill>
              </a:rPr>
              <a:t>knowledge</a:t>
            </a:r>
            <a:r>
              <a:rPr lang="en-GB">
                <a:solidFill>
                  <a:srgbClr val="0000FF"/>
                </a:solidFill>
              </a:rPr>
              <a:t> of the </a:t>
            </a:r>
            <a:r>
              <a:rPr lang="en-GB">
                <a:solidFill>
                  <a:srgbClr val="0000FF"/>
                </a:solidFill>
              </a:rPr>
              <a:t>benefits</a:t>
            </a:r>
            <a:endParaRPr>
              <a:solidFill>
                <a:srgbClr val="0000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155CC"/>
                </a:solidFill>
              </a:rPr>
              <a:t>Technological modules used:</a:t>
            </a:r>
            <a:endParaRPr>
              <a:solidFill>
                <a:srgbClr val="1155CC"/>
              </a:solidFill>
            </a:endParaRPr>
          </a:p>
        </p:txBody>
      </p:sp>
      <p:sp>
        <p:nvSpPr>
          <p:cNvPr id="112" name="Google Shape;112;p17"/>
          <p:cNvSpPr txBox="1"/>
          <p:nvPr>
            <p:ph idx="1" type="body"/>
          </p:nvPr>
        </p:nvSpPr>
        <p:spPr>
          <a:xfrm>
            <a:off x="311700" y="1152475"/>
            <a:ext cx="8520600" cy="373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u="sng">
                <a:solidFill>
                  <a:srgbClr val="FF9900"/>
                </a:solidFill>
              </a:rPr>
              <a:t>NumPy</a:t>
            </a:r>
            <a:r>
              <a:rPr lang="en-GB">
                <a:solidFill>
                  <a:srgbClr val="FF9900"/>
                </a:solidFill>
              </a:rPr>
              <a:t>:</a:t>
            </a:r>
            <a:r>
              <a:rPr lang="en-GB">
                <a:solidFill>
                  <a:srgbClr val="00FFFF"/>
                </a:solidFill>
              </a:rPr>
              <a:t>it is fundamental package for scientific computing in python. It is used for Complicated mathematical operations and array operations.</a:t>
            </a:r>
            <a:endParaRPr>
              <a:solidFill>
                <a:srgbClr val="00FFFF"/>
              </a:solidFill>
            </a:endParaRPr>
          </a:p>
          <a:p>
            <a:pPr indent="0" lvl="0" marL="0" rtl="0" algn="l">
              <a:spcBef>
                <a:spcPts val="1600"/>
              </a:spcBef>
              <a:spcAft>
                <a:spcPts val="0"/>
              </a:spcAft>
              <a:buNone/>
            </a:pPr>
            <a:r>
              <a:rPr lang="en-GB" u="sng">
                <a:solidFill>
                  <a:srgbClr val="FF9900"/>
                </a:solidFill>
              </a:rPr>
              <a:t>PANDAS</a:t>
            </a:r>
            <a:r>
              <a:rPr lang="en-GB">
                <a:solidFill>
                  <a:srgbClr val="FF9900"/>
                </a:solidFill>
              </a:rPr>
              <a:t>:</a:t>
            </a:r>
            <a:r>
              <a:rPr lang="en-GB">
                <a:solidFill>
                  <a:srgbClr val="00FFFF"/>
                </a:solidFill>
              </a:rPr>
              <a:t>it is a software library written for python for data manipulation and analysis. In particular it offers data structures and operations for manipulation numerical tables and time series.</a:t>
            </a:r>
            <a:endParaRPr>
              <a:solidFill>
                <a:srgbClr val="00FFFF"/>
              </a:solidFill>
            </a:endParaRPr>
          </a:p>
          <a:p>
            <a:pPr indent="0" lvl="0" marL="0" rtl="0" algn="l">
              <a:spcBef>
                <a:spcPts val="1600"/>
              </a:spcBef>
              <a:spcAft>
                <a:spcPts val="0"/>
              </a:spcAft>
              <a:buNone/>
            </a:pPr>
            <a:r>
              <a:rPr lang="en-GB" u="sng">
                <a:solidFill>
                  <a:srgbClr val="FF9900"/>
                </a:solidFill>
              </a:rPr>
              <a:t>KERAS</a:t>
            </a:r>
            <a:r>
              <a:rPr lang="en-GB">
                <a:solidFill>
                  <a:srgbClr val="00FFFF"/>
                </a:solidFill>
              </a:rPr>
              <a:t>:it is an open source neural network library written in python. It is capable of running on top of TensorFlow, Microsoft Cognitive Toolkit or Theano.Designed to enable fast experimentation with deep neural networks, it focuses on being user-friendly, modular, and extensible. </a:t>
            </a:r>
            <a:endParaRPr>
              <a:solidFill>
                <a:srgbClr val="00FFFF"/>
              </a:solidFill>
            </a:endParaRPr>
          </a:p>
          <a:p>
            <a:pPr indent="0" lvl="0" marL="0" rtl="0" algn="l">
              <a:spcBef>
                <a:spcPts val="1600"/>
              </a:spcBef>
              <a:spcAft>
                <a:spcPts val="0"/>
              </a:spcAft>
              <a:buNone/>
            </a:pPr>
            <a:r>
              <a:t/>
            </a:r>
            <a:endParaRPr u="sng">
              <a:solidFill>
                <a:srgbClr val="FF9900"/>
              </a:solidFill>
            </a:endParaRPr>
          </a:p>
          <a:p>
            <a:pPr indent="0" lvl="0" marL="0" rtl="0" algn="l">
              <a:spcBef>
                <a:spcPts val="1600"/>
              </a:spcBef>
              <a:spcAft>
                <a:spcPts val="1600"/>
              </a:spcAft>
              <a:buNone/>
            </a:pPr>
            <a:r>
              <a:t/>
            </a:r>
            <a:endParaRPr u="sng">
              <a:solidFill>
                <a:srgbClr val="FF99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670900" y="258950"/>
            <a:ext cx="7921200" cy="453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0000FF"/>
                </a:solidFill>
              </a:rPr>
              <a:t>Concept validation</a:t>
            </a:r>
            <a:endParaRPr>
              <a:solidFill>
                <a:srgbClr val="0000FF"/>
              </a:solidFill>
            </a:endParaRPr>
          </a:p>
          <a:p>
            <a:pPr indent="0" lvl="0" marL="0" rtl="0" algn="l">
              <a:spcBef>
                <a:spcPts val="0"/>
              </a:spcBef>
              <a:spcAft>
                <a:spcPts val="0"/>
              </a:spcAft>
              <a:buNone/>
            </a:pPr>
            <a:r>
              <a:t/>
            </a:r>
            <a:endParaRPr>
              <a:solidFill>
                <a:srgbClr val="0000FF"/>
              </a:solidFill>
            </a:endParaRPr>
          </a:p>
          <a:p>
            <a:pPr indent="0" lvl="0" marL="0" rtl="0" algn="l">
              <a:spcBef>
                <a:spcPts val="0"/>
              </a:spcBef>
              <a:spcAft>
                <a:spcPts val="0"/>
              </a:spcAft>
              <a:buNone/>
            </a:pPr>
            <a:r>
              <a:t/>
            </a:r>
            <a:endParaRPr>
              <a:solidFill>
                <a:srgbClr val="0000FF"/>
              </a:solidFill>
            </a:endParaRPr>
          </a:p>
          <a:p>
            <a:pPr indent="0" lvl="0" marL="0" rtl="0" algn="l">
              <a:spcBef>
                <a:spcPts val="0"/>
              </a:spcBef>
              <a:spcAft>
                <a:spcPts val="0"/>
              </a:spcAft>
              <a:buNone/>
            </a:pPr>
            <a:r>
              <a:rPr lang="en-GB">
                <a:solidFill>
                  <a:srgbClr val="FF9900"/>
                </a:solidFill>
              </a:rPr>
              <a:t>Concept validation is a process of showing design concepts to users to discover whether the users feel that these concepts address their needs. It also allows us to get feedback from users on ideas. </a:t>
            </a:r>
            <a:endParaRPr>
              <a:solidFill>
                <a:srgbClr val="FF9900"/>
              </a:solidFill>
            </a:endParaRPr>
          </a:p>
          <a:p>
            <a:pPr indent="0" lvl="0" marL="0" rtl="0" algn="l">
              <a:spcBef>
                <a:spcPts val="0"/>
              </a:spcBef>
              <a:spcAft>
                <a:spcPts val="0"/>
              </a:spcAft>
              <a:buNone/>
            </a:pPr>
            <a:r>
              <a:t/>
            </a:r>
            <a:endParaRPr>
              <a:solidFill>
                <a:srgbClr val="0000FF"/>
              </a:solidFill>
            </a:endParaRPr>
          </a:p>
          <a:p>
            <a:pPr indent="0" lvl="0" marL="0" rtl="0" algn="l">
              <a:spcBef>
                <a:spcPts val="0"/>
              </a:spcBef>
              <a:spcAft>
                <a:spcPts val="0"/>
              </a:spcAft>
              <a:buNone/>
            </a:pPr>
            <a:r>
              <a:t/>
            </a:r>
            <a:endParaRPr>
              <a:solidFill>
                <a:srgbClr val="0000FF"/>
              </a:solidFill>
            </a:endParaRPr>
          </a:p>
          <a:p>
            <a:pPr indent="0" lvl="0" marL="0" rtl="0" algn="l">
              <a:spcBef>
                <a:spcPts val="0"/>
              </a:spcBef>
              <a:spcAft>
                <a:spcPts val="0"/>
              </a:spcAft>
              <a:buNone/>
            </a:pPr>
            <a:r>
              <a:t/>
            </a:r>
            <a:endParaRPr>
              <a:solidFill>
                <a:srgbClr val="0000FF"/>
              </a:solidFill>
            </a:endParaRPr>
          </a:p>
          <a:p>
            <a:pPr indent="0" lvl="0" marL="0" rtl="0" algn="l">
              <a:spcBef>
                <a:spcPts val="0"/>
              </a:spcBef>
              <a:spcAft>
                <a:spcPts val="0"/>
              </a:spcAft>
              <a:buNone/>
            </a:pPr>
            <a:r>
              <a:t/>
            </a:r>
            <a:endParaRPr>
              <a:solidFill>
                <a:srgbClr val="0000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23" name="Google Shape;123;p19"/>
          <p:cNvPicPr preferRelativeResize="0"/>
          <p:nvPr/>
        </p:nvPicPr>
        <p:blipFill>
          <a:blip r:embed="rId3">
            <a:alphaModFix/>
          </a:blip>
          <a:stretch>
            <a:fillRect/>
          </a:stretch>
        </p:blipFill>
        <p:spPr>
          <a:xfrm>
            <a:off x="1158750" y="246875"/>
            <a:ext cx="6574150" cy="4802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0000"/>
                </a:solidFill>
              </a:rPr>
              <a:t>Solution to the problem</a:t>
            </a:r>
            <a:endParaRPr>
              <a:solidFill>
                <a:srgbClr val="FF0000"/>
              </a:solidFill>
            </a:endParaRPr>
          </a:p>
        </p:txBody>
      </p:sp>
      <p:sp>
        <p:nvSpPr>
          <p:cNvPr id="129" name="Google Shape;129;p20"/>
          <p:cNvSpPr txBox="1"/>
          <p:nvPr>
            <p:ph idx="1" type="body"/>
          </p:nvPr>
        </p:nvSpPr>
        <p:spPr>
          <a:xfrm>
            <a:off x="359150" y="1551050"/>
            <a:ext cx="8520600" cy="2738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GB">
                <a:solidFill>
                  <a:srgbClr val="BF9000"/>
                </a:solidFill>
              </a:rPr>
              <a:t>We build a model for the plant seedling classification using the concept of Convolution Neural Networks(CNN)  and building a Machine learning model.Here we preprocess the plant seedling images.7 varieties of plant seedling data is used to train the model and we test the model with the image of the seedling to be recognised.The model identifies the type of the seedling with a certain amount of accuracy. </a:t>
            </a:r>
            <a:endParaRPr>
              <a:solidFill>
                <a:srgbClr val="BF9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131375" y="4165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00FFFF"/>
                </a:solidFill>
              </a:rPr>
              <a:t>Improving scalability</a:t>
            </a:r>
            <a:endParaRPr>
              <a:solidFill>
                <a:srgbClr val="00FFFF"/>
              </a:solidFill>
            </a:endParaRPr>
          </a:p>
        </p:txBody>
      </p:sp>
      <p:sp>
        <p:nvSpPr>
          <p:cNvPr id="135" name="Google Shape;135;p21"/>
          <p:cNvSpPr txBox="1"/>
          <p:nvPr>
            <p:ph idx="1" type="body"/>
          </p:nvPr>
        </p:nvSpPr>
        <p:spPr>
          <a:xfrm>
            <a:off x="311700" y="14466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GB">
                <a:solidFill>
                  <a:srgbClr val="1155CC"/>
                </a:solidFill>
              </a:rPr>
              <a:t>Scalability is the ability of the model to grow and manage increasing demand.To improve scalability we require more </a:t>
            </a:r>
            <a:r>
              <a:rPr lang="en-GB">
                <a:solidFill>
                  <a:srgbClr val="1155CC"/>
                </a:solidFill>
              </a:rPr>
              <a:t>resources such as seedling dataset having images of more variety of seedlings and greater quality of images.We can use better Machine learning algorithms suitable for handling large datasets and providing a better accuracy to improve the scalability </a:t>
            </a:r>
            <a:endParaRPr>
              <a:solidFill>
                <a:srgbClr val="1155CC"/>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226300" y="293150"/>
            <a:ext cx="8520600" cy="54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0B5394"/>
                </a:solidFill>
              </a:rPr>
              <a:t>Estimated Time and Accuracy improvement</a:t>
            </a:r>
            <a:endParaRPr sz="2400">
              <a:solidFill>
                <a:srgbClr val="0B5394"/>
              </a:solidFill>
            </a:endParaRPr>
          </a:p>
        </p:txBody>
      </p:sp>
      <p:sp>
        <p:nvSpPr>
          <p:cNvPr id="141" name="Google Shape;141;p22"/>
          <p:cNvSpPr txBox="1"/>
          <p:nvPr>
            <p:ph idx="1" type="body"/>
          </p:nvPr>
        </p:nvSpPr>
        <p:spPr>
          <a:xfrm>
            <a:off x="226300" y="105760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B45F06"/>
                </a:solidFill>
              </a:rPr>
              <a:t>The model uses training dataset and 50 epochs to train the model which approximately takes 4-5 hours after which the model is tested.The accuracy that the model produces is around 80%-90%.</a:t>
            </a:r>
            <a:endParaRPr>
              <a:solidFill>
                <a:srgbClr val="B45F06"/>
              </a:solidFill>
            </a:endParaRPr>
          </a:p>
          <a:p>
            <a:pPr indent="0" lvl="0" marL="0" rtl="0" algn="l">
              <a:spcBef>
                <a:spcPts val="1600"/>
              </a:spcBef>
              <a:spcAft>
                <a:spcPts val="1600"/>
              </a:spcAft>
              <a:buNone/>
            </a:pPr>
            <a:r>
              <a:rPr lang="en-GB">
                <a:solidFill>
                  <a:srgbClr val="B45F06"/>
                </a:solidFill>
              </a:rPr>
              <a:t>We can improve the accuracy of the model by taking more amount of plant seedling images in the dataset, having more epochs and using better image processing techniques</a:t>
            </a:r>
            <a:endParaRPr>
              <a:solidFill>
                <a:srgbClr val="B45F06"/>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00FFFF"/>
                </a:solidFill>
              </a:rPr>
              <a:t>SWOT ANALYSIS</a:t>
            </a:r>
            <a:endParaRPr>
              <a:solidFill>
                <a:srgbClr val="00FFFF"/>
              </a:solidFill>
            </a:endParaRPr>
          </a:p>
        </p:txBody>
      </p:sp>
      <p:graphicFrame>
        <p:nvGraphicFramePr>
          <p:cNvPr id="147" name="Google Shape;147;p23"/>
          <p:cNvGraphicFramePr/>
          <p:nvPr/>
        </p:nvGraphicFramePr>
        <p:xfrm>
          <a:off x="1100825" y="1152450"/>
          <a:ext cx="3000000" cy="3000000"/>
        </p:xfrm>
        <a:graphic>
          <a:graphicData uri="http://schemas.openxmlformats.org/drawingml/2006/table">
            <a:tbl>
              <a:tblPr>
                <a:noFill/>
                <a:tableStyleId>{8FE4A627-74D8-4CE6-92A3-75B636BD533C}</a:tableStyleId>
              </a:tblPr>
              <a:tblGrid>
                <a:gridCol w="3087850"/>
                <a:gridCol w="3143975"/>
              </a:tblGrid>
              <a:tr h="1800725">
                <a:tc>
                  <a:txBody>
                    <a:bodyPr/>
                    <a:lstStyle/>
                    <a:p>
                      <a:pPr indent="0" lvl="0" marL="0" rtl="0" algn="l">
                        <a:spcBef>
                          <a:spcPts val="0"/>
                        </a:spcBef>
                        <a:spcAft>
                          <a:spcPts val="0"/>
                        </a:spcAft>
                        <a:buNone/>
                      </a:pPr>
                      <a:r>
                        <a:rPr lang="en-GB">
                          <a:solidFill>
                            <a:srgbClr val="4A86E8"/>
                          </a:solidFill>
                        </a:rPr>
                        <a:t>STRENGTHS                                                  </a:t>
                      </a:r>
                      <a:endParaRPr>
                        <a:solidFill>
                          <a:srgbClr val="4A86E8"/>
                        </a:solidFill>
                      </a:endParaRPr>
                    </a:p>
                  </a:txBody>
                  <a:tcPr marT="91425" marB="91425" marR="91425" marL="91425">
                    <a:lnL cap="flat" cmpd="sng" w="9525">
                      <a:solidFill>
                        <a:srgbClr val="9900FF"/>
                      </a:solidFill>
                      <a:prstDash val="solid"/>
                      <a:round/>
                      <a:headEnd len="sm" w="sm" type="none"/>
                      <a:tailEnd len="sm" w="sm" type="none"/>
                    </a:lnL>
                    <a:lnR cap="flat" cmpd="sng" w="9525">
                      <a:solidFill>
                        <a:srgbClr val="9900FF"/>
                      </a:solidFill>
                      <a:prstDash val="solid"/>
                      <a:round/>
                      <a:headEnd len="sm" w="sm" type="none"/>
                      <a:tailEnd len="sm" w="sm" type="none"/>
                    </a:lnR>
                    <a:lnT cap="flat" cmpd="sng" w="9525">
                      <a:solidFill>
                        <a:srgbClr val="9900FF"/>
                      </a:solidFill>
                      <a:prstDash val="solid"/>
                      <a:round/>
                      <a:headEnd len="sm" w="sm" type="none"/>
                      <a:tailEnd len="sm" w="sm" type="none"/>
                    </a:lnT>
                    <a:lnB cap="flat" cmpd="sng" w="9525">
                      <a:solidFill>
                        <a:srgbClr val="9900FF"/>
                      </a:solidFill>
                      <a:prstDash val="solid"/>
                      <a:round/>
                      <a:headEnd len="sm" w="sm" type="none"/>
                      <a:tailEnd len="sm" w="sm" type="none"/>
                    </a:lnB>
                  </a:tcPr>
                </a:tc>
                <a:tc>
                  <a:txBody>
                    <a:bodyPr/>
                    <a:lstStyle/>
                    <a:p>
                      <a:pPr indent="0" lvl="0" marL="0" rtl="0" algn="l">
                        <a:spcBef>
                          <a:spcPts val="0"/>
                        </a:spcBef>
                        <a:spcAft>
                          <a:spcPts val="0"/>
                        </a:spcAft>
                        <a:buNone/>
                      </a:pPr>
                      <a:r>
                        <a:rPr lang="en-GB">
                          <a:solidFill>
                            <a:srgbClr val="4A86E8"/>
                          </a:solidFill>
                        </a:rPr>
                        <a:t>WEAKNESSES</a:t>
                      </a:r>
                      <a:endParaRPr>
                        <a:solidFill>
                          <a:srgbClr val="4A86E8"/>
                        </a:solidFill>
                      </a:endParaRPr>
                    </a:p>
                  </a:txBody>
                  <a:tcPr marT="91425" marB="91425" marR="91425" marL="91425">
                    <a:lnL cap="flat" cmpd="sng" w="9525">
                      <a:solidFill>
                        <a:srgbClr val="9900FF"/>
                      </a:solidFill>
                      <a:prstDash val="solid"/>
                      <a:round/>
                      <a:headEnd len="sm" w="sm" type="none"/>
                      <a:tailEnd len="sm" w="sm" type="none"/>
                    </a:lnL>
                    <a:lnR cap="flat" cmpd="sng" w="9525">
                      <a:solidFill>
                        <a:srgbClr val="9900FF"/>
                      </a:solidFill>
                      <a:prstDash val="solid"/>
                      <a:round/>
                      <a:headEnd len="sm" w="sm" type="none"/>
                      <a:tailEnd len="sm" w="sm" type="none"/>
                    </a:lnR>
                    <a:lnT cap="flat" cmpd="sng" w="9525">
                      <a:solidFill>
                        <a:srgbClr val="9900FF"/>
                      </a:solidFill>
                      <a:prstDash val="solid"/>
                      <a:round/>
                      <a:headEnd len="sm" w="sm" type="none"/>
                      <a:tailEnd len="sm" w="sm" type="none"/>
                    </a:lnT>
                    <a:lnB cap="flat" cmpd="sng" w="9525">
                      <a:solidFill>
                        <a:srgbClr val="9900FF"/>
                      </a:solidFill>
                      <a:prstDash val="solid"/>
                      <a:round/>
                      <a:headEnd len="sm" w="sm" type="none"/>
                      <a:tailEnd len="sm" w="sm" type="none"/>
                    </a:lnB>
                  </a:tcPr>
                </a:tc>
              </a:tr>
              <a:tr h="1800725">
                <a:tc>
                  <a:txBody>
                    <a:bodyPr/>
                    <a:lstStyle/>
                    <a:p>
                      <a:pPr indent="0" lvl="0" marL="0" rtl="0" algn="l">
                        <a:spcBef>
                          <a:spcPts val="0"/>
                        </a:spcBef>
                        <a:spcAft>
                          <a:spcPts val="0"/>
                        </a:spcAft>
                        <a:buNone/>
                      </a:pPr>
                      <a:r>
                        <a:rPr lang="en-GB">
                          <a:solidFill>
                            <a:srgbClr val="4A86E8"/>
                          </a:solidFill>
                        </a:rPr>
                        <a:t>OPPORTUNITIES</a:t>
                      </a:r>
                      <a:endParaRPr>
                        <a:solidFill>
                          <a:srgbClr val="4A86E8"/>
                        </a:solidFill>
                      </a:endParaRPr>
                    </a:p>
                  </a:txBody>
                  <a:tcPr marT="91425" marB="91425" marR="91425" marL="91425">
                    <a:lnL cap="flat" cmpd="sng" w="9525">
                      <a:solidFill>
                        <a:srgbClr val="9900FF"/>
                      </a:solidFill>
                      <a:prstDash val="solid"/>
                      <a:round/>
                      <a:headEnd len="sm" w="sm" type="none"/>
                      <a:tailEnd len="sm" w="sm" type="none"/>
                    </a:lnL>
                    <a:lnR cap="flat" cmpd="sng" w="9525">
                      <a:solidFill>
                        <a:srgbClr val="9900FF"/>
                      </a:solidFill>
                      <a:prstDash val="solid"/>
                      <a:round/>
                      <a:headEnd len="sm" w="sm" type="none"/>
                      <a:tailEnd len="sm" w="sm" type="none"/>
                    </a:lnR>
                    <a:lnT cap="flat" cmpd="sng" w="9525">
                      <a:solidFill>
                        <a:srgbClr val="9900FF"/>
                      </a:solidFill>
                      <a:prstDash val="solid"/>
                      <a:round/>
                      <a:headEnd len="sm" w="sm" type="none"/>
                      <a:tailEnd len="sm" w="sm" type="none"/>
                    </a:lnT>
                    <a:lnB cap="flat" cmpd="sng" w="9525">
                      <a:solidFill>
                        <a:srgbClr val="9900FF"/>
                      </a:solidFill>
                      <a:prstDash val="solid"/>
                      <a:round/>
                      <a:headEnd len="sm" w="sm" type="none"/>
                      <a:tailEnd len="sm" w="sm" type="none"/>
                    </a:lnB>
                  </a:tcPr>
                </a:tc>
                <a:tc>
                  <a:txBody>
                    <a:bodyPr/>
                    <a:lstStyle/>
                    <a:p>
                      <a:pPr indent="0" lvl="0" marL="0" rtl="0" algn="l">
                        <a:spcBef>
                          <a:spcPts val="0"/>
                        </a:spcBef>
                        <a:spcAft>
                          <a:spcPts val="0"/>
                        </a:spcAft>
                        <a:buNone/>
                      </a:pPr>
                      <a:r>
                        <a:rPr lang="en-GB">
                          <a:solidFill>
                            <a:srgbClr val="4A86E8"/>
                          </a:solidFill>
                        </a:rPr>
                        <a:t>THREATS</a:t>
                      </a:r>
                      <a:endParaRPr>
                        <a:solidFill>
                          <a:srgbClr val="4A86E8"/>
                        </a:solidFill>
                      </a:endParaRPr>
                    </a:p>
                  </a:txBody>
                  <a:tcPr marT="91425" marB="91425" marR="91425" marL="91425">
                    <a:lnL cap="flat" cmpd="sng" w="9525">
                      <a:solidFill>
                        <a:srgbClr val="9900FF"/>
                      </a:solidFill>
                      <a:prstDash val="solid"/>
                      <a:round/>
                      <a:headEnd len="sm" w="sm" type="none"/>
                      <a:tailEnd len="sm" w="sm" type="none"/>
                    </a:lnL>
                    <a:lnR cap="flat" cmpd="sng" w="9525">
                      <a:solidFill>
                        <a:srgbClr val="9900FF"/>
                      </a:solidFill>
                      <a:prstDash val="solid"/>
                      <a:round/>
                      <a:headEnd len="sm" w="sm" type="none"/>
                      <a:tailEnd len="sm" w="sm" type="none"/>
                    </a:lnR>
                    <a:lnT cap="flat" cmpd="sng" w="9525">
                      <a:solidFill>
                        <a:srgbClr val="9900FF"/>
                      </a:solidFill>
                      <a:prstDash val="solid"/>
                      <a:round/>
                      <a:headEnd len="sm" w="sm" type="none"/>
                      <a:tailEnd len="sm" w="sm" type="none"/>
                    </a:lnT>
                    <a:lnB cap="flat" cmpd="sng" w="9525">
                      <a:solidFill>
                        <a:srgbClr val="9900FF"/>
                      </a:solidFill>
                      <a:prstDash val="solid"/>
                      <a:round/>
                      <a:headEnd len="sm" w="sm" type="none"/>
                      <a:tailEnd len="sm" w="sm" type="none"/>
                    </a:lnB>
                  </a:tcPr>
                </a:tc>
              </a:tr>
            </a:tbl>
          </a:graphicData>
        </a:graphic>
      </p:graphicFrame>
      <p:sp>
        <p:nvSpPr>
          <p:cNvPr id="148" name="Google Shape;148;p23"/>
          <p:cNvSpPr txBox="1"/>
          <p:nvPr/>
        </p:nvSpPr>
        <p:spPr>
          <a:xfrm>
            <a:off x="1100825" y="1603775"/>
            <a:ext cx="3273900" cy="124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4A86E8"/>
                </a:solidFill>
              </a:rPr>
              <a:t>1.Production</a:t>
            </a:r>
            <a:endParaRPr>
              <a:solidFill>
                <a:srgbClr val="4A86E8"/>
              </a:solidFill>
            </a:endParaRPr>
          </a:p>
          <a:p>
            <a:pPr indent="0" lvl="0" marL="0" rtl="0" algn="l">
              <a:spcBef>
                <a:spcPts val="0"/>
              </a:spcBef>
              <a:spcAft>
                <a:spcPts val="0"/>
              </a:spcAft>
              <a:buNone/>
            </a:pPr>
            <a:r>
              <a:rPr lang="en-GB">
                <a:solidFill>
                  <a:srgbClr val="4A86E8"/>
                </a:solidFill>
              </a:rPr>
              <a:t>2.Branding</a:t>
            </a:r>
            <a:endParaRPr>
              <a:solidFill>
                <a:srgbClr val="4A86E8"/>
              </a:solidFill>
            </a:endParaRPr>
          </a:p>
          <a:p>
            <a:pPr indent="0" lvl="0" marL="0" rtl="0" algn="l">
              <a:spcBef>
                <a:spcPts val="0"/>
              </a:spcBef>
              <a:spcAft>
                <a:spcPts val="0"/>
              </a:spcAft>
              <a:buNone/>
            </a:pPr>
            <a:r>
              <a:rPr lang="en-GB">
                <a:solidFill>
                  <a:srgbClr val="4A86E8"/>
                </a:solidFill>
              </a:rPr>
              <a:t>3.Grow staff</a:t>
            </a:r>
            <a:endParaRPr>
              <a:solidFill>
                <a:srgbClr val="4A86E8"/>
              </a:solidFill>
            </a:endParaRPr>
          </a:p>
          <a:p>
            <a:pPr indent="0" lvl="0" marL="0" rtl="0" algn="l">
              <a:spcBef>
                <a:spcPts val="0"/>
              </a:spcBef>
              <a:spcAft>
                <a:spcPts val="0"/>
              </a:spcAft>
              <a:buNone/>
            </a:pPr>
            <a:r>
              <a:rPr lang="en-GB">
                <a:solidFill>
                  <a:srgbClr val="4A86E8"/>
                </a:solidFill>
              </a:rPr>
              <a:t>4.Profit</a:t>
            </a:r>
            <a:endParaRPr>
              <a:solidFill>
                <a:srgbClr val="4A86E8"/>
              </a:solidFill>
            </a:endParaRPr>
          </a:p>
          <a:p>
            <a:pPr indent="0" lvl="0" marL="0" rtl="0" algn="l">
              <a:spcBef>
                <a:spcPts val="0"/>
              </a:spcBef>
              <a:spcAft>
                <a:spcPts val="0"/>
              </a:spcAft>
              <a:buNone/>
            </a:pPr>
            <a:r>
              <a:t/>
            </a:r>
            <a:endParaRPr>
              <a:solidFill>
                <a:srgbClr val="4A86E8"/>
              </a:solidFill>
            </a:endParaRPr>
          </a:p>
        </p:txBody>
      </p:sp>
      <p:sp>
        <p:nvSpPr>
          <p:cNvPr id="149" name="Google Shape;149;p23"/>
          <p:cNvSpPr txBox="1"/>
          <p:nvPr/>
        </p:nvSpPr>
        <p:spPr>
          <a:xfrm>
            <a:off x="4270425" y="1660725"/>
            <a:ext cx="2922900" cy="104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4A86E8"/>
                </a:solidFill>
              </a:rPr>
              <a:t>1.Marketing</a:t>
            </a:r>
            <a:endParaRPr>
              <a:solidFill>
                <a:srgbClr val="4A86E8"/>
              </a:solidFill>
            </a:endParaRPr>
          </a:p>
          <a:p>
            <a:pPr indent="0" lvl="0" marL="0" rtl="0" algn="l">
              <a:spcBef>
                <a:spcPts val="0"/>
              </a:spcBef>
              <a:spcAft>
                <a:spcPts val="0"/>
              </a:spcAft>
              <a:buNone/>
            </a:pPr>
            <a:r>
              <a:rPr lang="en-GB">
                <a:solidFill>
                  <a:srgbClr val="4A86E8"/>
                </a:solidFill>
              </a:rPr>
              <a:t>2.R and D</a:t>
            </a:r>
            <a:endParaRPr>
              <a:solidFill>
                <a:srgbClr val="4A86E8"/>
              </a:solidFill>
            </a:endParaRPr>
          </a:p>
          <a:p>
            <a:pPr indent="0" lvl="0" marL="0" rtl="0" algn="l">
              <a:spcBef>
                <a:spcPts val="0"/>
              </a:spcBef>
              <a:spcAft>
                <a:spcPts val="0"/>
              </a:spcAft>
              <a:buNone/>
            </a:pPr>
            <a:r>
              <a:rPr lang="en-GB">
                <a:solidFill>
                  <a:srgbClr val="4A86E8"/>
                </a:solidFill>
              </a:rPr>
              <a:t>3.Financial</a:t>
            </a:r>
            <a:endParaRPr>
              <a:solidFill>
                <a:srgbClr val="4A86E8"/>
              </a:solidFill>
            </a:endParaRPr>
          </a:p>
          <a:p>
            <a:pPr indent="0" lvl="0" marL="0" rtl="0" algn="l">
              <a:spcBef>
                <a:spcPts val="0"/>
              </a:spcBef>
              <a:spcAft>
                <a:spcPts val="0"/>
              </a:spcAft>
              <a:buNone/>
            </a:pPr>
            <a:r>
              <a:rPr lang="en-GB">
                <a:solidFill>
                  <a:srgbClr val="4A86E8"/>
                </a:solidFill>
              </a:rPr>
              <a:t>4.Cash Flow</a:t>
            </a:r>
            <a:endParaRPr>
              <a:solidFill>
                <a:srgbClr val="4A86E8"/>
              </a:solidFill>
            </a:endParaRPr>
          </a:p>
          <a:p>
            <a:pPr indent="0" lvl="0" marL="0" rtl="0" algn="l">
              <a:spcBef>
                <a:spcPts val="0"/>
              </a:spcBef>
              <a:spcAft>
                <a:spcPts val="0"/>
              </a:spcAft>
              <a:buNone/>
            </a:pPr>
            <a:r>
              <a:t/>
            </a:r>
            <a:endParaRPr>
              <a:solidFill>
                <a:srgbClr val="4A86E8"/>
              </a:solidFill>
            </a:endParaRPr>
          </a:p>
        </p:txBody>
      </p:sp>
      <p:sp>
        <p:nvSpPr>
          <p:cNvPr id="150" name="Google Shape;150;p23"/>
          <p:cNvSpPr txBox="1"/>
          <p:nvPr/>
        </p:nvSpPr>
        <p:spPr>
          <a:xfrm>
            <a:off x="1100825" y="3433025"/>
            <a:ext cx="3216900" cy="91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4A86E8"/>
                </a:solidFill>
              </a:rPr>
              <a:t>1.Customer service</a:t>
            </a:r>
            <a:endParaRPr>
              <a:solidFill>
                <a:srgbClr val="4A86E8"/>
              </a:solidFill>
            </a:endParaRPr>
          </a:p>
          <a:p>
            <a:pPr indent="0" lvl="0" marL="0" rtl="0" algn="l">
              <a:spcBef>
                <a:spcPts val="0"/>
              </a:spcBef>
              <a:spcAft>
                <a:spcPts val="0"/>
              </a:spcAft>
              <a:buNone/>
            </a:pPr>
            <a:r>
              <a:rPr lang="en-GB">
                <a:solidFill>
                  <a:srgbClr val="4A86E8"/>
                </a:solidFill>
              </a:rPr>
              <a:t>2.Social Media</a:t>
            </a:r>
            <a:endParaRPr>
              <a:solidFill>
                <a:srgbClr val="4A86E8"/>
              </a:solidFill>
            </a:endParaRPr>
          </a:p>
        </p:txBody>
      </p:sp>
      <p:sp>
        <p:nvSpPr>
          <p:cNvPr id="151" name="Google Shape;151;p23"/>
          <p:cNvSpPr txBox="1"/>
          <p:nvPr/>
        </p:nvSpPr>
        <p:spPr>
          <a:xfrm>
            <a:off x="4374725" y="3433025"/>
            <a:ext cx="3216900" cy="74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4A86E8"/>
                </a:solidFill>
              </a:rPr>
              <a:t>1.New Technology</a:t>
            </a:r>
            <a:endParaRPr>
              <a:solidFill>
                <a:srgbClr val="4A86E8"/>
              </a:solidFill>
            </a:endParaRPr>
          </a:p>
          <a:p>
            <a:pPr indent="0" lvl="0" marL="0" rtl="0" algn="l">
              <a:spcBef>
                <a:spcPts val="0"/>
              </a:spcBef>
              <a:spcAft>
                <a:spcPts val="0"/>
              </a:spcAft>
              <a:buNone/>
            </a:pPr>
            <a:r>
              <a:rPr lang="en-GB">
                <a:solidFill>
                  <a:srgbClr val="4A86E8"/>
                </a:solidFill>
              </a:rPr>
              <a:t>2.Market</a:t>
            </a:r>
            <a:endParaRPr>
              <a:solidFill>
                <a:srgbClr val="4A86E8"/>
              </a:solidFill>
            </a:endParaRPr>
          </a:p>
          <a:p>
            <a:pPr indent="0" lvl="0" marL="0" rtl="0" algn="l">
              <a:spcBef>
                <a:spcPts val="0"/>
              </a:spcBef>
              <a:spcAft>
                <a:spcPts val="0"/>
              </a:spcAft>
              <a:buNone/>
            </a:pPr>
            <a:r>
              <a:rPr lang="en-GB">
                <a:solidFill>
                  <a:srgbClr val="4A86E8"/>
                </a:solidFill>
              </a:rPr>
              <a:t>3.Economy</a:t>
            </a:r>
            <a:endParaRPr>
              <a:solidFill>
                <a:srgbClr val="4A86E8"/>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0000"/>
                </a:solidFill>
              </a:rPr>
              <a:t>Estimated cost of the proposed product</a:t>
            </a:r>
            <a:endParaRPr>
              <a:solidFill>
                <a:srgbClr val="FF0000"/>
              </a:solidFill>
            </a:endParaRPr>
          </a:p>
        </p:txBody>
      </p:sp>
      <p:sp>
        <p:nvSpPr>
          <p:cNvPr id="157" name="Google Shape;157;p24"/>
          <p:cNvSpPr txBox="1"/>
          <p:nvPr>
            <p:ph idx="1" type="body"/>
          </p:nvPr>
        </p:nvSpPr>
        <p:spPr>
          <a:xfrm>
            <a:off x="359150" y="16269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GB">
                <a:solidFill>
                  <a:srgbClr val="FF9900"/>
                </a:solidFill>
              </a:rPr>
              <a:t>The costs involved in building the model includes the cost of collection of data,transport and advertising our model  to be recognised.The various technologies involved in preprocessing the image of the seedlings add to the major cost of the model.</a:t>
            </a:r>
            <a:r>
              <a:rPr lang="en-GB">
                <a:solidFill>
                  <a:srgbClr val="FFFF00"/>
                </a:solidFill>
              </a:rPr>
              <a:t> </a:t>
            </a:r>
            <a:endParaRPr>
              <a:solidFill>
                <a:srgbClr val="FFFF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5"/>
          <p:cNvSpPr txBox="1"/>
          <p:nvPr>
            <p:ph type="title"/>
          </p:nvPr>
        </p:nvSpPr>
        <p:spPr>
          <a:xfrm>
            <a:off x="0" y="1435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9900"/>
                </a:solidFill>
              </a:rPr>
              <a:t>MARKETING CONCEPTS:</a:t>
            </a:r>
            <a:endParaRPr>
              <a:solidFill>
                <a:srgbClr val="FF9900"/>
              </a:solidFill>
            </a:endParaRPr>
          </a:p>
        </p:txBody>
      </p:sp>
      <p:sp>
        <p:nvSpPr>
          <p:cNvPr id="163" name="Google Shape;163;p25"/>
          <p:cNvSpPr txBox="1"/>
          <p:nvPr>
            <p:ph idx="1" type="body"/>
          </p:nvPr>
        </p:nvSpPr>
        <p:spPr>
          <a:xfrm>
            <a:off x="0" y="798950"/>
            <a:ext cx="8798400" cy="405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00FFFF"/>
                </a:solidFill>
              </a:rPr>
              <a:t>The marketing concept is the philosophy that firms should analyze the needs of their customers and then make decisions to satisfy those needs, better than the competition. The different </a:t>
            </a:r>
            <a:r>
              <a:rPr lang="en-GB">
                <a:solidFill>
                  <a:srgbClr val="00FFFF"/>
                </a:solidFill>
              </a:rPr>
              <a:t>strategies</a:t>
            </a:r>
            <a:r>
              <a:rPr lang="en-GB">
                <a:solidFill>
                  <a:srgbClr val="00FFFF"/>
                </a:solidFill>
              </a:rPr>
              <a:t> used are -</a:t>
            </a:r>
            <a:endParaRPr>
              <a:solidFill>
                <a:srgbClr val="00FFFF"/>
              </a:solidFill>
            </a:endParaRPr>
          </a:p>
          <a:p>
            <a:pPr indent="0" lvl="0" marL="0" rtl="0" algn="l">
              <a:spcBef>
                <a:spcPts val="1600"/>
              </a:spcBef>
              <a:spcAft>
                <a:spcPts val="1600"/>
              </a:spcAft>
              <a:buNone/>
            </a:pPr>
            <a:r>
              <a:t/>
            </a:r>
            <a:endParaRPr>
              <a:solidFill>
                <a:srgbClr val="00FFFF"/>
              </a:solidFill>
            </a:endParaRPr>
          </a:p>
        </p:txBody>
      </p:sp>
      <p:sp>
        <p:nvSpPr>
          <p:cNvPr id="164" name="Google Shape;164;p25"/>
          <p:cNvSpPr/>
          <p:nvPr/>
        </p:nvSpPr>
        <p:spPr>
          <a:xfrm>
            <a:off x="3319100" y="2012700"/>
            <a:ext cx="1341900" cy="659100"/>
          </a:xfrm>
          <a:prstGeom prst="roundRect">
            <a:avLst>
              <a:gd fmla="val 16667" name="adj"/>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Social marketing concept</a:t>
            </a:r>
            <a:endParaRPr/>
          </a:p>
        </p:txBody>
      </p:sp>
      <p:sp>
        <p:nvSpPr>
          <p:cNvPr id="165" name="Google Shape;165;p25"/>
          <p:cNvSpPr/>
          <p:nvPr/>
        </p:nvSpPr>
        <p:spPr>
          <a:xfrm>
            <a:off x="5932100" y="3048425"/>
            <a:ext cx="1341900" cy="572700"/>
          </a:xfrm>
          <a:prstGeom prst="roundRect">
            <a:avLst>
              <a:gd fmla="val 16667" name="adj"/>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Marketing concept</a:t>
            </a:r>
            <a:endParaRPr/>
          </a:p>
        </p:txBody>
      </p:sp>
      <p:sp>
        <p:nvSpPr>
          <p:cNvPr id="166" name="Google Shape;166;p25"/>
          <p:cNvSpPr/>
          <p:nvPr/>
        </p:nvSpPr>
        <p:spPr>
          <a:xfrm>
            <a:off x="4649300" y="4429450"/>
            <a:ext cx="1341900" cy="572700"/>
          </a:xfrm>
          <a:prstGeom prst="roundRect">
            <a:avLst>
              <a:gd fmla="val 16667" name="adj"/>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Selling concept</a:t>
            </a:r>
            <a:endParaRPr/>
          </a:p>
        </p:txBody>
      </p:sp>
      <p:sp>
        <p:nvSpPr>
          <p:cNvPr id="167" name="Google Shape;167;p25"/>
          <p:cNvSpPr/>
          <p:nvPr/>
        </p:nvSpPr>
        <p:spPr>
          <a:xfrm>
            <a:off x="1871450" y="4429450"/>
            <a:ext cx="1341900" cy="572700"/>
          </a:xfrm>
          <a:prstGeom prst="roundRect">
            <a:avLst>
              <a:gd fmla="val 16667" name="adj"/>
            </a:avLst>
          </a:prstGeom>
          <a:solidFill>
            <a:srgbClr val="00FF00"/>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Production concept</a:t>
            </a:r>
            <a:endParaRPr/>
          </a:p>
        </p:txBody>
      </p:sp>
      <p:sp>
        <p:nvSpPr>
          <p:cNvPr id="168" name="Google Shape;168;p25"/>
          <p:cNvSpPr/>
          <p:nvPr/>
        </p:nvSpPr>
        <p:spPr>
          <a:xfrm>
            <a:off x="529550" y="3048425"/>
            <a:ext cx="1341900" cy="572700"/>
          </a:xfrm>
          <a:prstGeom prst="roundRect">
            <a:avLst>
              <a:gd fmla="val 16667" name="adj"/>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Product concept</a:t>
            </a:r>
            <a:endParaRPr/>
          </a:p>
        </p:txBody>
      </p:sp>
      <p:cxnSp>
        <p:nvCxnSpPr>
          <p:cNvPr id="169" name="Google Shape;169;p25"/>
          <p:cNvCxnSpPr>
            <a:stCxn id="164" idx="3"/>
            <a:endCxn id="165" idx="0"/>
          </p:cNvCxnSpPr>
          <p:nvPr/>
        </p:nvCxnSpPr>
        <p:spPr>
          <a:xfrm>
            <a:off x="4661000" y="2342250"/>
            <a:ext cx="1942200" cy="706200"/>
          </a:xfrm>
          <a:prstGeom prst="curvedConnector2">
            <a:avLst/>
          </a:prstGeom>
          <a:noFill/>
          <a:ln cap="flat" cmpd="sng" w="28575">
            <a:solidFill>
              <a:srgbClr val="FFFF00"/>
            </a:solidFill>
            <a:prstDash val="solid"/>
            <a:round/>
            <a:headEnd len="med" w="med" type="none"/>
            <a:tailEnd len="med" w="med" type="triangle"/>
          </a:ln>
        </p:spPr>
      </p:cxnSp>
      <p:cxnSp>
        <p:nvCxnSpPr>
          <p:cNvPr id="170" name="Google Shape;170;p25"/>
          <p:cNvCxnSpPr>
            <a:stCxn id="165" idx="2"/>
            <a:endCxn id="166" idx="3"/>
          </p:cNvCxnSpPr>
          <p:nvPr/>
        </p:nvCxnSpPr>
        <p:spPr>
          <a:xfrm rot="5400000">
            <a:off x="5749700" y="3862475"/>
            <a:ext cx="1094700" cy="612000"/>
          </a:xfrm>
          <a:prstGeom prst="curvedConnector2">
            <a:avLst/>
          </a:prstGeom>
          <a:noFill/>
          <a:ln cap="flat" cmpd="sng" w="28575">
            <a:solidFill>
              <a:srgbClr val="FFFF00"/>
            </a:solidFill>
            <a:prstDash val="solid"/>
            <a:round/>
            <a:headEnd len="med" w="med" type="none"/>
            <a:tailEnd len="med" w="med" type="triangle"/>
          </a:ln>
        </p:spPr>
      </p:cxnSp>
      <p:cxnSp>
        <p:nvCxnSpPr>
          <p:cNvPr id="171" name="Google Shape;171;p25"/>
          <p:cNvCxnSpPr>
            <a:stCxn id="166" idx="1"/>
            <a:endCxn id="167" idx="3"/>
          </p:cNvCxnSpPr>
          <p:nvPr/>
        </p:nvCxnSpPr>
        <p:spPr>
          <a:xfrm flipH="1">
            <a:off x="3213500" y="4715800"/>
            <a:ext cx="1435800" cy="600"/>
          </a:xfrm>
          <a:prstGeom prst="curvedConnector3">
            <a:avLst>
              <a:gd fmla="val 49995" name="adj1"/>
            </a:avLst>
          </a:prstGeom>
          <a:noFill/>
          <a:ln cap="flat" cmpd="sng" w="28575">
            <a:solidFill>
              <a:srgbClr val="FFFF00"/>
            </a:solidFill>
            <a:prstDash val="solid"/>
            <a:round/>
            <a:headEnd len="med" w="med" type="none"/>
            <a:tailEnd len="med" w="med" type="triangle"/>
          </a:ln>
        </p:spPr>
      </p:cxnSp>
      <p:cxnSp>
        <p:nvCxnSpPr>
          <p:cNvPr id="172" name="Google Shape;172;p25"/>
          <p:cNvCxnSpPr>
            <a:stCxn id="167" idx="1"/>
            <a:endCxn id="168" idx="2"/>
          </p:cNvCxnSpPr>
          <p:nvPr/>
        </p:nvCxnSpPr>
        <p:spPr>
          <a:xfrm rot="10800000">
            <a:off x="1200650" y="3621100"/>
            <a:ext cx="670800" cy="1094700"/>
          </a:xfrm>
          <a:prstGeom prst="curvedConnector2">
            <a:avLst/>
          </a:prstGeom>
          <a:noFill/>
          <a:ln cap="flat" cmpd="sng" w="28575">
            <a:solidFill>
              <a:srgbClr val="FFFF00"/>
            </a:solidFill>
            <a:prstDash val="solid"/>
            <a:round/>
            <a:headEnd len="med" w="med" type="none"/>
            <a:tailEnd len="med" w="med" type="triangle"/>
          </a:ln>
        </p:spPr>
      </p:cxnSp>
      <p:cxnSp>
        <p:nvCxnSpPr>
          <p:cNvPr id="173" name="Google Shape;173;p25"/>
          <p:cNvCxnSpPr>
            <a:stCxn id="168" idx="0"/>
            <a:endCxn id="164" idx="1"/>
          </p:cNvCxnSpPr>
          <p:nvPr/>
        </p:nvCxnSpPr>
        <p:spPr>
          <a:xfrm rot="-5400000">
            <a:off x="1906700" y="1636025"/>
            <a:ext cx="706200" cy="2118600"/>
          </a:xfrm>
          <a:prstGeom prst="curvedConnector2">
            <a:avLst/>
          </a:prstGeom>
          <a:noFill/>
          <a:ln cap="flat" cmpd="sng" w="28575">
            <a:solidFill>
              <a:srgbClr val="FFFF00"/>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00FFFF"/>
                </a:solidFill>
              </a:rPr>
              <a:t>The idea of production concept - “Consumers will favor products that are available and highly affordable”,This concept is one of the oldest marketing management orientations that guide sellers.</a:t>
            </a:r>
            <a:endParaRPr b="1">
              <a:solidFill>
                <a:srgbClr val="00FFFF"/>
              </a:solidFill>
            </a:endParaRPr>
          </a:p>
          <a:p>
            <a:pPr indent="0" lvl="0" marL="0" rtl="0" algn="l">
              <a:spcBef>
                <a:spcPts val="1600"/>
              </a:spcBef>
              <a:spcAft>
                <a:spcPts val="1600"/>
              </a:spcAft>
              <a:buNone/>
            </a:pPr>
            <a:r>
              <a:rPr b="1" lang="en-GB">
                <a:solidFill>
                  <a:srgbClr val="00FFFF"/>
                </a:solidFill>
              </a:rPr>
              <a:t>The product concept holds that the consumers will favor products that offers the most in quality, performance and innovative features.    </a:t>
            </a:r>
            <a:endParaRPr b="1">
              <a:solidFill>
                <a:srgbClr val="00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BF9000"/>
                </a:solidFill>
              </a:rPr>
              <a:t>Our customers</a:t>
            </a:r>
            <a:endParaRPr>
              <a:solidFill>
                <a:srgbClr val="BF9000"/>
              </a:solidFill>
            </a:endParaRPr>
          </a:p>
        </p:txBody>
      </p:sp>
      <p:sp>
        <p:nvSpPr>
          <p:cNvPr id="185" name="Google Shape;185;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86" name="Google Shape;186;p27"/>
          <p:cNvPicPr preferRelativeResize="0"/>
          <p:nvPr/>
        </p:nvPicPr>
        <p:blipFill>
          <a:blip r:embed="rId3">
            <a:alphaModFix/>
          </a:blip>
          <a:stretch>
            <a:fillRect/>
          </a:stretch>
        </p:blipFill>
        <p:spPr>
          <a:xfrm>
            <a:off x="358250" y="1617950"/>
            <a:ext cx="1938125" cy="1725725"/>
          </a:xfrm>
          <a:prstGeom prst="rect">
            <a:avLst/>
          </a:prstGeom>
          <a:noFill/>
          <a:ln>
            <a:noFill/>
          </a:ln>
        </p:spPr>
      </p:pic>
      <p:pic>
        <p:nvPicPr>
          <p:cNvPr id="187" name="Google Shape;187;p27"/>
          <p:cNvPicPr preferRelativeResize="0"/>
          <p:nvPr/>
        </p:nvPicPr>
        <p:blipFill>
          <a:blip r:embed="rId4">
            <a:alphaModFix/>
          </a:blip>
          <a:stretch>
            <a:fillRect/>
          </a:stretch>
        </p:blipFill>
        <p:spPr>
          <a:xfrm>
            <a:off x="2948000" y="1639075"/>
            <a:ext cx="2249800" cy="1683475"/>
          </a:xfrm>
          <a:prstGeom prst="rect">
            <a:avLst/>
          </a:prstGeom>
          <a:noFill/>
          <a:ln>
            <a:noFill/>
          </a:ln>
        </p:spPr>
      </p:pic>
      <p:pic>
        <p:nvPicPr>
          <p:cNvPr id="188" name="Google Shape;188;p27"/>
          <p:cNvPicPr preferRelativeResize="0"/>
          <p:nvPr/>
        </p:nvPicPr>
        <p:blipFill>
          <a:blip r:embed="rId5">
            <a:alphaModFix/>
          </a:blip>
          <a:stretch>
            <a:fillRect/>
          </a:stretch>
        </p:blipFill>
        <p:spPr>
          <a:xfrm>
            <a:off x="5932650" y="1660050"/>
            <a:ext cx="2476500" cy="1641525"/>
          </a:xfrm>
          <a:prstGeom prst="rect">
            <a:avLst/>
          </a:prstGeom>
          <a:noFill/>
          <a:ln>
            <a:noFill/>
          </a:ln>
        </p:spPr>
      </p:pic>
      <p:sp>
        <p:nvSpPr>
          <p:cNvPr id="189" name="Google Shape;189;p27"/>
          <p:cNvSpPr txBox="1"/>
          <p:nvPr/>
        </p:nvSpPr>
        <p:spPr>
          <a:xfrm>
            <a:off x="411175" y="3607425"/>
            <a:ext cx="1885200" cy="42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38761D"/>
                </a:solidFill>
              </a:rPr>
              <a:t>Biotechnologists</a:t>
            </a:r>
            <a:endParaRPr>
              <a:solidFill>
                <a:srgbClr val="38761D"/>
              </a:solidFill>
            </a:endParaRPr>
          </a:p>
        </p:txBody>
      </p:sp>
      <p:sp>
        <p:nvSpPr>
          <p:cNvPr id="190" name="Google Shape;190;p27"/>
          <p:cNvSpPr txBox="1"/>
          <p:nvPr/>
        </p:nvSpPr>
        <p:spPr>
          <a:xfrm>
            <a:off x="3141975" y="3607425"/>
            <a:ext cx="19938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38761D"/>
                </a:solidFill>
              </a:rPr>
              <a:t>Farmers</a:t>
            </a:r>
            <a:endParaRPr>
              <a:solidFill>
                <a:srgbClr val="38761D"/>
              </a:solidFill>
            </a:endParaRPr>
          </a:p>
        </p:txBody>
      </p:sp>
      <p:sp>
        <p:nvSpPr>
          <p:cNvPr id="191" name="Google Shape;191;p27"/>
          <p:cNvSpPr txBox="1"/>
          <p:nvPr/>
        </p:nvSpPr>
        <p:spPr>
          <a:xfrm>
            <a:off x="6089975" y="3692775"/>
            <a:ext cx="2218800" cy="41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38761D"/>
                </a:solidFill>
              </a:rPr>
              <a:t>Plant Nurseries</a:t>
            </a:r>
            <a:endParaRPr>
              <a:solidFill>
                <a:srgbClr val="38761D"/>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8"/>
          <p:cNvSpPr txBox="1"/>
          <p:nvPr>
            <p:ph type="title"/>
          </p:nvPr>
        </p:nvSpPr>
        <p:spPr>
          <a:xfrm>
            <a:off x="311700" y="433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 </a:t>
            </a:r>
            <a:endParaRPr/>
          </a:p>
        </p:txBody>
      </p:sp>
      <p:sp>
        <p:nvSpPr>
          <p:cNvPr id="197" name="Google Shape;197;p28"/>
          <p:cNvSpPr txBox="1"/>
          <p:nvPr>
            <p:ph idx="1" type="body"/>
          </p:nvPr>
        </p:nvSpPr>
        <p:spPr>
          <a:xfrm>
            <a:off x="2685625" y="1926375"/>
            <a:ext cx="3197700" cy="759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GB" sz="2400">
                <a:solidFill>
                  <a:srgbClr val="FF0000"/>
                </a:solidFill>
              </a:rPr>
              <a:t>THANK YOU</a:t>
            </a:r>
            <a:endParaRPr sz="2400">
              <a:solidFill>
                <a:srgbClr val="FF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